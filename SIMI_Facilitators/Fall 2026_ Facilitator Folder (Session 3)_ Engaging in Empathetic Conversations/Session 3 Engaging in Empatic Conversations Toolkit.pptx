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Comfortaa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7" roundtripDataSignature="AMtx7mjBOAn27d0Cx5oxWnMpJ5Cm9jLS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omfortaa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Comforta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Facilitators: Duplicate this slide if need more space!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Facilitators: Duplicate this slide if need more space!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Facilitators: Duplicate this slide if need more space!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294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Session 3: Engaging in Empathic Conversations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Participant-Created Toolkit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25812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>
                <a:latin typeface="Comfortaa"/>
                <a:ea typeface="Comfortaa"/>
                <a:cs typeface="Comfortaa"/>
                <a:sym typeface="Comfortaa"/>
              </a:rPr>
              <a:t>Roleplay Guiding Questions</a:t>
            </a:r>
            <a:endParaRPr b="1" sz="202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258125" y="1179850"/>
            <a:ext cx="8520600" cy="353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308825" y="514425"/>
            <a:ext cx="84192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What did you notice about differences between on-ramps and off-ramps in the role play?  </a:t>
            </a:r>
            <a:endParaRPr b="0" i="0" sz="16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25812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>
                <a:latin typeface="Comfortaa"/>
                <a:ea typeface="Comfortaa"/>
                <a:cs typeface="Comfortaa"/>
                <a:sym typeface="Comfortaa"/>
              </a:rPr>
              <a:t>Roleplay Guiding Questions</a:t>
            </a:r>
            <a:endParaRPr b="1" sz="202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0" y="1269775"/>
            <a:ext cx="4260300" cy="34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58125" y="1269775"/>
            <a:ext cx="4260300" cy="34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284975" y="508825"/>
            <a:ext cx="4206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How does the identity of both people affect the likelihood of an “off-ramp”? </a:t>
            </a:r>
            <a:endParaRPr b="0" i="0" sz="16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4714325" y="508825"/>
            <a:ext cx="4206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What is the responsibility of the person with more power? </a:t>
            </a:r>
            <a:endParaRPr b="0" i="0" sz="16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25812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>
                <a:latin typeface="Comfortaa"/>
                <a:ea typeface="Comfortaa"/>
                <a:cs typeface="Comfortaa"/>
                <a:sym typeface="Comfortaa"/>
              </a:rPr>
              <a:t>Mentoring Guided Questions</a:t>
            </a:r>
            <a:endParaRPr b="1" sz="202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63650" y="1269775"/>
            <a:ext cx="4314000" cy="34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284975" y="493425"/>
            <a:ext cx="84507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What barriers make it more likely for you to “off-ramp” from empathic/vulnerable interactions? </a:t>
            </a:r>
            <a:endParaRPr b="0" i="0" sz="16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630300" y="1269775"/>
            <a:ext cx="4314000" cy="34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/>
          <p:nvPr/>
        </p:nvSpPr>
        <p:spPr>
          <a:xfrm>
            <a:off x="4572000" y="1269775"/>
            <a:ext cx="4260300" cy="34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258125" y="1269775"/>
            <a:ext cx="4260300" cy="34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284975" y="425875"/>
            <a:ext cx="420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What structures can you put in place to make these intentional conversations with mentees more likely to happen? </a:t>
            </a:r>
            <a:endParaRPr b="0" i="0" sz="15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4598850" y="493425"/>
            <a:ext cx="4206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What questions or conversation starters can lead to deeper mutual learning and a better mentoring relationship?</a:t>
            </a:r>
            <a:r>
              <a:rPr b="0" i="0" lang="en" sz="16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8" name="Google Shape;88;p5"/>
          <p:cNvSpPr txBox="1"/>
          <p:nvPr>
            <p:ph type="title"/>
          </p:nvPr>
        </p:nvSpPr>
        <p:spPr>
          <a:xfrm>
            <a:off x="25812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>
                <a:latin typeface="Comfortaa"/>
                <a:ea typeface="Comfortaa"/>
                <a:cs typeface="Comfortaa"/>
                <a:sym typeface="Comfortaa"/>
              </a:rPr>
              <a:t>Mentoring Guiding Questions</a:t>
            </a:r>
            <a:endParaRPr b="1" sz="202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/>
        </p:nvSpPr>
        <p:spPr>
          <a:xfrm>
            <a:off x="1853250" y="1977650"/>
            <a:ext cx="5437500" cy="1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1" i="0" lang="en" sz="5900" u="none" cap="none" strike="noStrike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5-min Break</a:t>
            </a:r>
            <a:endParaRPr b="1" i="0" sz="5900" u="none" cap="none" strike="noStrike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type="title"/>
          </p:nvPr>
        </p:nvSpPr>
        <p:spPr>
          <a:xfrm>
            <a:off x="25812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Article #1 Highlights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7271"/>
              <a:buNone/>
            </a:pPr>
            <a:r>
              <a:rPr lang="en" sz="1755">
                <a:latin typeface="Comfortaa"/>
                <a:ea typeface="Comfortaa"/>
                <a:cs typeface="Comfortaa"/>
                <a:sym typeface="Comfortaa"/>
              </a:rPr>
              <a:t>Martinez-Cola (2020). Collectors, Nightlights, and Allies, Oh My! White Mentors in the Academy. </a:t>
            </a:r>
            <a:endParaRPr sz="3355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572000" y="1494400"/>
            <a:ext cx="4260300" cy="34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258125" y="1494400"/>
            <a:ext cx="4260300" cy="34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284975" y="1074800"/>
            <a:ext cx="4206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Main takeaways of article: </a:t>
            </a:r>
            <a:endParaRPr b="0" i="0" sz="18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4598850" y="1074800"/>
            <a:ext cx="4206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Top 3-5 actionable suggestions: </a:t>
            </a:r>
            <a:endParaRPr b="0" i="0" sz="18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 txBox="1"/>
          <p:nvPr>
            <p:ph type="title"/>
          </p:nvPr>
        </p:nvSpPr>
        <p:spPr>
          <a:xfrm>
            <a:off x="25812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Article #2 Highlights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7271"/>
              <a:buNone/>
            </a:pPr>
            <a:r>
              <a:rPr lang="en" sz="1755">
                <a:latin typeface="Comfortaa"/>
                <a:ea typeface="Comfortaa"/>
                <a:cs typeface="Comfortaa"/>
                <a:sym typeface="Comfortaa"/>
              </a:rPr>
              <a:t>Benishek et al. (2004). A Multicultural Feminist Model of Mentoring. </a:t>
            </a:r>
            <a:r>
              <a:rPr lang="en" sz="2311"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sz="391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4572000" y="1494400"/>
            <a:ext cx="4260300" cy="34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258125" y="1494400"/>
            <a:ext cx="4260300" cy="34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"/>
          <p:cNvSpPr txBox="1"/>
          <p:nvPr/>
        </p:nvSpPr>
        <p:spPr>
          <a:xfrm>
            <a:off x="284975" y="1074800"/>
            <a:ext cx="4206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Main takeaways of article: </a:t>
            </a:r>
            <a:endParaRPr b="0" i="0" sz="18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4598850" y="1074800"/>
            <a:ext cx="4206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Top 3-5 actionable suggestions: </a:t>
            </a:r>
            <a:endParaRPr b="0" i="0" sz="18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>
            <p:ph type="title"/>
          </p:nvPr>
        </p:nvSpPr>
        <p:spPr>
          <a:xfrm>
            <a:off x="25812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Article #3 Highlights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7271"/>
              <a:buNone/>
            </a:pPr>
            <a:r>
              <a:rPr lang="en" sz="1755">
                <a:latin typeface="Comfortaa"/>
                <a:ea typeface="Comfortaa"/>
                <a:cs typeface="Comfortaa"/>
                <a:sym typeface="Comfortaa"/>
              </a:rPr>
              <a:t>Tanner &amp; Allen (2007). Cultural Competence in the College Biology Classroom.</a:t>
            </a:r>
            <a:endParaRPr sz="1755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7271"/>
              <a:buNone/>
            </a:pPr>
            <a:r>
              <a:t/>
            </a:r>
            <a:endParaRPr sz="1755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4572000" y="1494400"/>
            <a:ext cx="4260300" cy="34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258125" y="1494400"/>
            <a:ext cx="4260300" cy="34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9"/>
          <p:cNvSpPr txBox="1"/>
          <p:nvPr/>
        </p:nvSpPr>
        <p:spPr>
          <a:xfrm>
            <a:off x="284975" y="1074800"/>
            <a:ext cx="4206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Main takeaways of article: </a:t>
            </a:r>
            <a:endParaRPr b="0" i="0" sz="18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0" name="Google Shape;120;p9"/>
          <p:cNvSpPr txBox="1"/>
          <p:nvPr/>
        </p:nvSpPr>
        <p:spPr>
          <a:xfrm>
            <a:off x="4598850" y="1074800"/>
            <a:ext cx="4206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Top 3-5 actionable suggestions: </a:t>
            </a:r>
            <a:endParaRPr b="0" i="0" sz="18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