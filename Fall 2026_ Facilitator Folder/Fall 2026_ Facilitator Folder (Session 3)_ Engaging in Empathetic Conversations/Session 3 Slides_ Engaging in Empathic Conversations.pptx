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Comfortaa"/>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0" roundtripDataSignature="AMtx7mgfcjfj4HEO8iMvZS6U6AT3gGNv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omfortaa-bold.fntdata"/><Relationship Id="rId6" Type="http://schemas.openxmlformats.org/officeDocument/2006/relationships/slide" Target="slides/slide1.xml"/><Relationship Id="rId18" Type="http://schemas.openxmlformats.org/officeDocument/2006/relationships/font" Target="fonts/Comforta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 name="Shape 53"/>
        <p:cNvGrpSpPr/>
        <p:nvPr/>
      </p:nvGrpSpPr>
      <p:grpSpPr>
        <a:xfrm>
          <a:off x="0" y="0"/>
          <a:ext cx="0" cy="0"/>
          <a:chOff x="0" y="0"/>
          <a:chExt cx="0" cy="0"/>
        </a:xfrm>
      </p:grpSpPr>
      <p:sp>
        <p:nvSpPr>
          <p:cNvPr id="54" name="Google Shape;54;p1"/>
          <p:cNvSpPr txBox="1"/>
          <p:nvPr>
            <p:ph type="ctrTitle"/>
          </p:nvPr>
        </p:nvSpPr>
        <p:spPr>
          <a:xfrm>
            <a:off x="340100" y="751150"/>
            <a:ext cx="3576300" cy="1712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Comfortaa"/>
                <a:ea typeface="Comfortaa"/>
                <a:cs typeface="Comfortaa"/>
                <a:sym typeface="Comfortaa"/>
              </a:rPr>
              <a:t>Session 3:</a:t>
            </a:r>
            <a:br>
              <a:rPr b="1" lang="en">
                <a:latin typeface="Comfortaa"/>
                <a:ea typeface="Comfortaa"/>
                <a:cs typeface="Comfortaa"/>
                <a:sym typeface="Comfortaa"/>
              </a:rPr>
            </a:br>
            <a:endParaRPr b="1">
              <a:latin typeface="Comfortaa"/>
              <a:ea typeface="Comfortaa"/>
              <a:cs typeface="Comfortaa"/>
              <a:sym typeface="Comfortaa"/>
            </a:endParaRPr>
          </a:p>
        </p:txBody>
      </p:sp>
      <p:pic>
        <p:nvPicPr>
          <p:cNvPr id="55" name="Google Shape;55;p1"/>
          <p:cNvPicPr preferRelativeResize="0"/>
          <p:nvPr/>
        </p:nvPicPr>
        <p:blipFill rotWithShape="1">
          <a:blip r:embed="rId3">
            <a:alphaModFix/>
          </a:blip>
          <a:srcRect b="0" l="0" r="0" t="0"/>
          <a:stretch/>
        </p:blipFill>
        <p:spPr>
          <a:xfrm>
            <a:off x="4073849" y="751150"/>
            <a:ext cx="3728474" cy="2896225"/>
          </a:xfrm>
          <a:prstGeom prst="rect">
            <a:avLst/>
          </a:prstGeom>
          <a:noFill/>
          <a:ln>
            <a:noFill/>
          </a:ln>
        </p:spPr>
      </p:pic>
      <p:sp>
        <p:nvSpPr>
          <p:cNvPr id="56" name="Google Shape;56;p1"/>
          <p:cNvSpPr txBox="1"/>
          <p:nvPr/>
        </p:nvSpPr>
        <p:spPr>
          <a:xfrm>
            <a:off x="481275" y="1680600"/>
            <a:ext cx="3148500" cy="232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0"/>
              <a:buFont typeface="Arial"/>
              <a:buNone/>
            </a:pPr>
            <a:r>
              <a:rPr b="1" i="0" lang="en" sz="2750" u="none" cap="none" strike="noStrike">
                <a:solidFill>
                  <a:schemeClr val="dk1"/>
                </a:solidFill>
                <a:latin typeface="Comfortaa"/>
                <a:ea typeface="Comfortaa"/>
                <a:cs typeface="Comfortaa"/>
                <a:sym typeface="Comfortaa"/>
              </a:rPr>
              <a:t>Engaging in Empathic Conversations</a:t>
            </a:r>
            <a:endParaRPr b="1" i="0" sz="2750" u="none" cap="none" strike="noStrike">
              <a:solidFill>
                <a:schemeClr val="dk1"/>
              </a:solidFill>
              <a:latin typeface="Comfortaa"/>
              <a:ea typeface="Comfortaa"/>
              <a:cs typeface="Comfortaa"/>
              <a:sym typeface="Comfortaa"/>
            </a:endParaRPr>
          </a:p>
          <a:p>
            <a:pPr indent="0" lvl="0" marL="0" marR="0" rtl="0" algn="l">
              <a:lnSpc>
                <a:spcPct val="100000"/>
              </a:lnSpc>
              <a:spcBef>
                <a:spcPts val="14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57" name="Google Shape;57;p1" title="67770aee-ff34-47aa-b2a8-b5b291681b1a_removalai_preview.png"/>
          <p:cNvPicPr preferRelativeResize="0"/>
          <p:nvPr/>
        </p:nvPicPr>
        <p:blipFill rotWithShape="1">
          <a:blip r:embed="rId4">
            <a:alphaModFix/>
          </a:blip>
          <a:srcRect b="0" l="0" r="0" t="0"/>
          <a:stretch/>
        </p:blipFill>
        <p:spPr>
          <a:xfrm>
            <a:off x="7328352" y="3404801"/>
            <a:ext cx="1815649" cy="16613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1" name="Shape 61"/>
        <p:cNvGrpSpPr/>
        <p:nvPr/>
      </p:nvGrpSpPr>
      <p:grpSpPr>
        <a:xfrm>
          <a:off x="0" y="0"/>
          <a:ext cx="0" cy="0"/>
          <a:chOff x="0" y="0"/>
          <a:chExt cx="0" cy="0"/>
        </a:xfrm>
      </p:grpSpPr>
      <p:sp>
        <p:nvSpPr>
          <p:cNvPr id="62" name="Google Shape;62;p2"/>
          <p:cNvSpPr txBox="1"/>
          <p:nvPr>
            <p:ph type="ctrTitle"/>
          </p:nvPr>
        </p:nvSpPr>
        <p:spPr>
          <a:xfrm>
            <a:off x="70276" y="0"/>
            <a:ext cx="7426800" cy="88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990"/>
              <a:buNone/>
            </a:pPr>
            <a:r>
              <a:rPr lang="en" sz="4380">
                <a:latin typeface="Comfortaa"/>
                <a:ea typeface="Comfortaa"/>
                <a:cs typeface="Comfortaa"/>
                <a:sym typeface="Comfortaa"/>
              </a:rPr>
              <a:t>Learning Objectives: </a:t>
            </a:r>
            <a:endParaRPr sz="4380">
              <a:latin typeface="Comfortaa"/>
              <a:ea typeface="Comfortaa"/>
              <a:cs typeface="Comfortaa"/>
              <a:sym typeface="Comfortaa"/>
            </a:endParaRPr>
          </a:p>
        </p:txBody>
      </p:sp>
      <p:sp>
        <p:nvSpPr>
          <p:cNvPr id="63" name="Google Shape;63;p2"/>
          <p:cNvSpPr txBox="1"/>
          <p:nvPr/>
        </p:nvSpPr>
        <p:spPr>
          <a:xfrm>
            <a:off x="296025" y="938425"/>
            <a:ext cx="8387100" cy="39783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2"/>
              </a:buClr>
              <a:buSzPts val="1700"/>
              <a:buFont typeface="Arial"/>
              <a:buAutoNum type="arabicParenR"/>
            </a:pPr>
            <a:r>
              <a:rPr b="0" i="0" lang="en" sz="1700" u="none" cap="none" strike="noStrike">
                <a:solidFill>
                  <a:schemeClr val="dk2"/>
                </a:solidFill>
                <a:latin typeface="Comfortaa"/>
                <a:ea typeface="Comfortaa"/>
                <a:cs typeface="Comfortaa"/>
                <a:sym typeface="Comfortaa"/>
              </a:rPr>
              <a:t>Understand the importance of giving vulnerable conversations with mentees </a:t>
            </a:r>
            <a:r>
              <a:rPr b="1" i="0" lang="en" sz="1700" u="none" cap="none" strike="noStrike">
                <a:solidFill>
                  <a:schemeClr val="dk2"/>
                </a:solidFill>
                <a:latin typeface="Comfortaa"/>
                <a:ea typeface="Comfortaa"/>
                <a:cs typeface="Comfortaa"/>
                <a:sym typeface="Comfortaa"/>
              </a:rPr>
              <a:t>time</a:t>
            </a:r>
            <a:r>
              <a:rPr b="0" i="0" lang="en" sz="1700" u="none" cap="none" strike="noStrike">
                <a:solidFill>
                  <a:schemeClr val="dk2"/>
                </a:solidFill>
                <a:latin typeface="Comfortaa"/>
                <a:ea typeface="Comfortaa"/>
                <a:cs typeface="Comfortaa"/>
                <a:sym typeface="Comfortaa"/>
              </a:rPr>
              <a:t>, </a:t>
            </a:r>
            <a:r>
              <a:rPr b="1" i="0" lang="en" sz="1700" u="none" cap="none" strike="noStrike">
                <a:solidFill>
                  <a:schemeClr val="dk2"/>
                </a:solidFill>
                <a:latin typeface="Comfortaa"/>
                <a:ea typeface="Comfortaa"/>
                <a:cs typeface="Comfortaa"/>
                <a:sym typeface="Comfortaa"/>
              </a:rPr>
              <a:t>attention</a:t>
            </a:r>
            <a:r>
              <a:rPr b="0" i="0" lang="en" sz="1700" u="none" cap="none" strike="noStrike">
                <a:solidFill>
                  <a:schemeClr val="dk2"/>
                </a:solidFill>
                <a:latin typeface="Comfortaa"/>
                <a:ea typeface="Comfortaa"/>
                <a:cs typeface="Comfortaa"/>
                <a:sym typeface="Comfortaa"/>
              </a:rPr>
              <a:t>, and handling these conversations with </a:t>
            </a:r>
            <a:r>
              <a:rPr b="1" i="0" lang="en" sz="1700" u="none" cap="none" strike="noStrike">
                <a:solidFill>
                  <a:schemeClr val="dk2"/>
                </a:solidFill>
                <a:latin typeface="Comfortaa"/>
                <a:ea typeface="Comfortaa"/>
                <a:cs typeface="Comfortaa"/>
                <a:sym typeface="Comfortaa"/>
              </a:rPr>
              <a:t>empathy</a:t>
            </a:r>
            <a:r>
              <a:rPr b="0" i="0" lang="en" sz="1700" u="none" cap="none" strike="noStrike">
                <a:solidFill>
                  <a:schemeClr val="dk2"/>
                </a:solidFill>
                <a:latin typeface="Comfortaa"/>
                <a:ea typeface="Comfortaa"/>
                <a:cs typeface="Comfortaa"/>
                <a:sym typeface="Comfortaa"/>
              </a:rPr>
              <a:t>.</a:t>
            </a:r>
            <a:br>
              <a:rPr b="0" i="0" lang="en" sz="1700" u="none" cap="none" strike="noStrike">
                <a:solidFill>
                  <a:schemeClr val="dk2"/>
                </a:solidFill>
                <a:latin typeface="Comfortaa"/>
                <a:ea typeface="Comfortaa"/>
                <a:cs typeface="Comfortaa"/>
                <a:sym typeface="Comfortaa"/>
              </a:rPr>
            </a:br>
            <a:endParaRPr b="0" i="0" sz="1700" u="none" cap="none" strike="noStrike">
              <a:solidFill>
                <a:schemeClr val="dk2"/>
              </a:solidFill>
              <a:latin typeface="Comfortaa"/>
              <a:ea typeface="Comfortaa"/>
              <a:cs typeface="Comfortaa"/>
              <a:sym typeface="Comfortaa"/>
            </a:endParaRPr>
          </a:p>
          <a:p>
            <a:pPr indent="-336550" lvl="0" marL="457200" marR="0" rtl="0" algn="l">
              <a:lnSpc>
                <a:spcPct val="100000"/>
              </a:lnSpc>
              <a:spcBef>
                <a:spcPts val="0"/>
              </a:spcBef>
              <a:spcAft>
                <a:spcPts val="0"/>
              </a:spcAft>
              <a:buClr>
                <a:schemeClr val="dk2"/>
              </a:buClr>
              <a:buSzPts val="1700"/>
              <a:buFont typeface="Arial"/>
              <a:buAutoNum type="arabicParenR"/>
            </a:pPr>
            <a:r>
              <a:rPr b="0" i="0" lang="en" sz="1700" u="none" cap="none" strike="noStrike">
                <a:solidFill>
                  <a:schemeClr val="dk2"/>
                </a:solidFill>
                <a:latin typeface="Comfortaa"/>
                <a:ea typeface="Comfortaa"/>
                <a:cs typeface="Comfortaa"/>
                <a:sym typeface="Comfortaa"/>
              </a:rPr>
              <a:t>Become aware of the </a:t>
            </a:r>
            <a:r>
              <a:rPr b="1" i="0" lang="en" sz="1700" u="none" cap="none" strike="noStrike">
                <a:solidFill>
                  <a:schemeClr val="dk2"/>
                </a:solidFill>
                <a:latin typeface="Comfortaa"/>
                <a:ea typeface="Comfortaa"/>
                <a:cs typeface="Comfortaa"/>
                <a:sym typeface="Comfortaa"/>
              </a:rPr>
              <a:t>personal barriers</a:t>
            </a:r>
            <a:r>
              <a:rPr b="0" i="0" lang="en" sz="1700" u="none" cap="none" strike="noStrike">
                <a:solidFill>
                  <a:schemeClr val="dk2"/>
                </a:solidFill>
                <a:latin typeface="Comfortaa"/>
                <a:ea typeface="Comfortaa"/>
                <a:cs typeface="Comfortaa"/>
                <a:sym typeface="Comfortaa"/>
              </a:rPr>
              <a:t> that prevent you from engaging in these conversations.</a:t>
            </a:r>
            <a:br>
              <a:rPr b="0" i="0" lang="en" sz="1700" u="none" cap="none" strike="noStrike">
                <a:solidFill>
                  <a:schemeClr val="dk2"/>
                </a:solidFill>
                <a:latin typeface="Comfortaa"/>
                <a:ea typeface="Comfortaa"/>
                <a:cs typeface="Comfortaa"/>
                <a:sym typeface="Comfortaa"/>
              </a:rPr>
            </a:br>
            <a:endParaRPr b="0" i="0" sz="1700" u="none" cap="none" strike="noStrike">
              <a:solidFill>
                <a:schemeClr val="dk2"/>
              </a:solidFill>
              <a:latin typeface="Comfortaa"/>
              <a:ea typeface="Comfortaa"/>
              <a:cs typeface="Comfortaa"/>
              <a:sym typeface="Comfortaa"/>
            </a:endParaRPr>
          </a:p>
          <a:p>
            <a:pPr indent="-336550" lvl="0" marL="457200" marR="0" rtl="0" algn="l">
              <a:lnSpc>
                <a:spcPct val="100000"/>
              </a:lnSpc>
              <a:spcBef>
                <a:spcPts val="0"/>
              </a:spcBef>
              <a:spcAft>
                <a:spcPts val="0"/>
              </a:spcAft>
              <a:buClr>
                <a:schemeClr val="dk2"/>
              </a:buClr>
              <a:buSzPts val="1700"/>
              <a:buFont typeface="Arial"/>
              <a:buAutoNum type="arabicParenR"/>
            </a:pPr>
            <a:r>
              <a:rPr b="0" i="0" lang="en" sz="1700" u="none" cap="none" strike="noStrike">
                <a:solidFill>
                  <a:schemeClr val="dk2"/>
                </a:solidFill>
                <a:latin typeface="Comfortaa"/>
                <a:ea typeface="Comfortaa"/>
                <a:cs typeface="Comfortaa"/>
                <a:sym typeface="Comfortaa"/>
              </a:rPr>
              <a:t>Explore </a:t>
            </a:r>
            <a:r>
              <a:rPr b="1" i="0" lang="en" sz="1700" u="none" cap="none" strike="noStrike">
                <a:solidFill>
                  <a:schemeClr val="dk2"/>
                </a:solidFill>
                <a:latin typeface="Comfortaa"/>
                <a:ea typeface="Comfortaa"/>
                <a:cs typeface="Comfortaa"/>
                <a:sym typeface="Comfortaa"/>
              </a:rPr>
              <a:t>structures or prompts</a:t>
            </a:r>
            <a:r>
              <a:rPr b="0" i="0" lang="en" sz="1700" u="none" cap="none" strike="noStrike">
                <a:solidFill>
                  <a:schemeClr val="dk2"/>
                </a:solidFill>
                <a:latin typeface="Comfortaa"/>
                <a:ea typeface="Comfortaa"/>
                <a:cs typeface="Comfortaa"/>
                <a:sym typeface="Comfortaa"/>
              </a:rPr>
              <a:t> than can increase the likelihood of these important conversations occurring within a mentoring relationship.</a:t>
            </a:r>
            <a:br>
              <a:rPr b="0" i="0" lang="en" sz="1700" u="none" cap="none" strike="noStrike">
                <a:solidFill>
                  <a:schemeClr val="dk2"/>
                </a:solidFill>
                <a:latin typeface="Comfortaa"/>
                <a:ea typeface="Comfortaa"/>
                <a:cs typeface="Comfortaa"/>
                <a:sym typeface="Comfortaa"/>
              </a:rPr>
            </a:br>
            <a:endParaRPr b="0" i="0" sz="1700" u="none" cap="none" strike="noStrike">
              <a:solidFill>
                <a:schemeClr val="dk2"/>
              </a:solidFill>
              <a:latin typeface="Comfortaa"/>
              <a:ea typeface="Comfortaa"/>
              <a:cs typeface="Comfortaa"/>
              <a:sym typeface="Comfortaa"/>
            </a:endParaRPr>
          </a:p>
          <a:p>
            <a:pPr indent="-336550" lvl="0" marL="457200" marR="0" rtl="0" algn="l">
              <a:lnSpc>
                <a:spcPct val="100000"/>
              </a:lnSpc>
              <a:spcBef>
                <a:spcPts val="0"/>
              </a:spcBef>
              <a:spcAft>
                <a:spcPts val="0"/>
              </a:spcAft>
              <a:buClr>
                <a:schemeClr val="dk2"/>
              </a:buClr>
              <a:buSzPts val="1700"/>
              <a:buFont typeface="Arial"/>
              <a:buAutoNum type="arabicParenR"/>
            </a:pPr>
            <a:r>
              <a:rPr b="0" i="0" lang="en" sz="1700" u="none" cap="none" strike="noStrike">
                <a:solidFill>
                  <a:schemeClr val="dk2"/>
                </a:solidFill>
                <a:latin typeface="Comfortaa"/>
                <a:ea typeface="Comfortaa"/>
                <a:cs typeface="Comfortaa"/>
                <a:sym typeface="Comfortaa"/>
              </a:rPr>
              <a:t>Learn a set of </a:t>
            </a:r>
            <a:r>
              <a:rPr b="1" i="0" lang="en" sz="1700" u="none" cap="none" strike="noStrike">
                <a:solidFill>
                  <a:schemeClr val="dk2"/>
                </a:solidFill>
                <a:latin typeface="Comfortaa"/>
                <a:ea typeface="Comfortaa"/>
                <a:cs typeface="Comfortaa"/>
                <a:sym typeface="Comfortaa"/>
              </a:rPr>
              <a:t>practical techniques</a:t>
            </a:r>
            <a:r>
              <a:rPr b="0" i="0" lang="en" sz="1700" u="none" cap="none" strike="noStrike">
                <a:solidFill>
                  <a:schemeClr val="dk2"/>
                </a:solidFill>
                <a:latin typeface="Comfortaa"/>
                <a:ea typeface="Comfortaa"/>
                <a:cs typeface="Comfortaa"/>
                <a:sym typeface="Comfortaa"/>
              </a:rPr>
              <a:t> and considerations from the literature that, when put into practice, are likely to improve and enhance mentoring relationships with mentees different from yourself.</a:t>
            </a:r>
            <a:endParaRPr b="0" i="0" sz="1700" u="none" cap="none" strike="noStrike">
              <a:solidFill>
                <a:schemeClr val="dk2"/>
              </a:solidFill>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7" name="Shape 67"/>
        <p:cNvGrpSpPr/>
        <p:nvPr/>
      </p:nvGrpSpPr>
      <p:grpSpPr>
        <a:xfrm>
          <a:off x="0" y="0"/>
          <a:ext cx="0" cy="0"/>
          <a:chOff x="0" y="0"/>
          <a:chExt cx="0" cy="0"/>
        </a:xfrm>
      </p:grpSpPr>
      <p:sp>
        <p:nvSpPr>
          <p:cNvPr id="68" name="Google Shape;68;p3"/>
          <p:cNvSpPr txBox="1"/>
          <p:nvPr>
            <p:ph type="ctrTitle"/>
          </p:nvPr>
        </p:nvSpPr>
        <p:spPr>
          <a:xfrm>
            <a:off x="631950" y="1367100"/>
            <a:ext cx="7880100" cy="1060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t/>
            </a:r>
            <a:endParaRPr b="1" sz="2980" u="sng">
              <a:latin typeface="Comfortaa"/>
              <a:ea typeface="Comfortaa"/>
              <a:cs typeface="Comfortaa"/>
              <a:sym typeface="Comfortaa"/>
            </a:endParaRPr>
          </a:p>
          <a:p>
            <a:pPr indent="0" lvl="0" marL="0" rtl="0" algn="ctr">
              <a:lnSpc>
                <a:spcPct val="100000"/>
              </a:lnSpc>
              <a:spcBef>
                <a:spcPts val="0"/>
              </a:spcBef>
              <a:spcAft>
                <a:spcPts val="0"/>
              </a:spcAft>
              <a:buSzPts val="990"/>
              <a:buNone/>
            </a:pPr>
            <a:r>
              <a:rPr b="1" lang="en" sz="2980" u="sng">
                <a:latin typeface="Comfortaa"/>
                <a:ea typeface="Comfortaa"/>
                <a:cs typeface="Comfortaa"/>
                <a:sym typeface="Comfortaa"/>
              </a:rPr>
              <a:t>Aiko Bethea: The Heart of Hard Conversations</a:t>
            </a:r>
            <a:endParaRPr b="1" sz="2980" u="sng">
              <a:latin typeface="Comfortaa"/>
              <a:ea typeface="Comfortaa"/>
              <a:cs typeface="Comfortaa"/>
              <a:sym typeface="Comfortaa"/>
            </a:endParaRPr>
          </a:p>
          <a:p>
            <a:pPr indent="0" lvl="0" marL="0" rtl="0" algn="ctr">
              <a:lnSpc>
                <a:spcPct val="100000"/>
              </a:lnSpc>
              <a:spcBef>
                <a:spcPts val="0"/>
              </a:spcBef>
              <a:spcAft>
                <a:spcPts val="0"/>
              </a:spcAft>
              <a:buSzPts val="990"/>
              <a:buNone/>
            </a:pPr>
            <a:r>
              <a:rPr b="1" lang="en" sz="2080">
                <a:latin typeface="Comfortaa"/>
                <a:ea typeface="Comfortaa"/>
                <a:cs typeface="Comfortaa"/>
                <a:sym typeface="Comfortaa"/>
              </a:rPr>
              <a:t>Brené Brown “Dare to Lead” Podcast</a:t>
            </a:r>
            <a:br>
              <a:rPr b="1" lang="en" sz="2980">
                <a:latin typeface="Comfortaa"/>
                <a:ea typeface="Comfortaa"/>
                <a:cs typeface="Comfortaa"/>
                <a:sym typeface="Comfortaa"/>
              </a:rPr>
            </a:br>
            <a:endParaRPr b="1" sz="2980">
              <a:latin typeface="Comfortaa"/>
              <a:ea typeface="Comfortaa"/>
              <a:cs typeface="Comfortaa"/>
              <a:sym typeface="Comfortaa"/>
            </a:endParaRPr>
          </a:p>
        </p:txBody>
      </p:sp>
      <p:pic>
        <p:nvPicPr>
          <p:cNvPr id="69" name="Google Shape;69;p3" title="Screenshot 2025-05-23 at 1.53.07 PM.jpg"/>
          <p:cNvPicPr preferRelativeResize="0"/>
          <p:nvPr/>
        </p:nvPicPr>
        <p:blipFill rotWithShape="1">
          <a:blip r:embed="rId3">
            <a:alphaModFix/>
          </a:blip>
          <a:srcRect b="0" l="0" r="0" t="0"/>
          <a:stretch/>
        </p:blipFill>
        <p:spPr>
          <a:xfrm>
            <a:off x="1252450" y="2114300"/>
            <a:ext cx="2645255" cy="2410801"/>
          </a:xfrm>
          <a:prstGeom prst="rect">
            <a:avLst/>
          </a:prstGeom>
          <a:noFill/>
          <a:ln>
            <a:noFill/>
          </a:ln>
        </p:spPr>
      </p:pic>
      <p:pic>
        <p:nvPicPr>
          <p:cNvPr id="70" name="Google Shape;70;p3" title="Screenshot 2025-05-23 at 1.53.15 PM.jpg"/>
          <p:cNvPicPr preferRelativeResize="0"/>
          <p:nvPr/>
        </p:nvPicPr>
        <p:blipFill rotWithShape="1">
          <a:blip r:embed="rId4">
            <a:alphaModFix/>
          </a:blip>
          <a:srcRect b="0" l="0" r="0" t="0"/>
          <a:stretch/>
        </p:blipFill>
        <p:spPr>
          <a:xfrm>
            <a:off x="4225805" y="2114300"/>
            <a:ext cx="3700984" cy="241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 name="Shape 74"/>
        <p:cNvGrpSpPr/>
        <p:nvPr/>
      </p:nvGrpSpPr>
      <p:grpSpPr>
        <a:xfrm>
          <a:off x="0" y="0"/>
          <a:ext cx="0" cy="0"/>
          <a:chOff x="0" y="0"/>
          <a:chExt cx="0" cy="0"/>
        </a:xfrm>
      </p:grpSpPr>
      <p:sp>
        <p:nvSpPr>
          <p:cNvPr id="75" name="Google Shape;75;p4"/>
          <p:cNvSpPr txBox="1"/>
          <p:nvPr/>
        </p:nvSpPr>
        <p:spPr>
          <a:xfrm>
            <a:off x="663000" y="240650"/>
            <a:ext cx="8139900" cy="457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1" lang="en" sz="1500" u="sng" cap="none" strike="noStrike">
                <a:solidFill>
                  <a:schemeClr val="dk1"/>
                </a:solidFill>
                <a:latin typeface="Comfortaa"/>
                <a:ea typeface="Comfortaa"/>
                <a:cs typeface="Comfortaa"/>
                <a:sym typeface="Comfortaa"/>
              </a:rPr>
              <a:t>Brené and Aiko Role Play Scenario: </a:t>
            </a:r>
            <a:endParaRPr b="1" i="1" sz="1500" u="sng"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chemeClr val="dk1"/>
                </a:solidFill>
                <a:latin typeface="Comfortaa"/>
                <a:ea typeface="Comfortaa"/>
                <a:cs typeface="Comfortaa"/>
                <a:sym typeface="Comfortaa"/>
              </a:rPr>
              <a:t>A black employee talks with a white supervisor about a presentation that the employee gave that made her feel invisible. </a:t>
            </a:r>
            <a:endParaRPr b="0" i="1" sz="1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100"/>
              <a:buFont typeface="Arial"/>
              <a:buNone/>
            </a:pPr>
            <a:r>
              <a:t/>
            </a:r>
            <a:endParaRPr b="0" i="1" sz="21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100"/>
              <a:buFont typeface="Arial"/>
              <a:buNone/>
            </a:pPr>
            <a:r>
              <a:rPr b="1" i="0" lang="en" sz="2100" u="sng" cap="none" strike="noStrike">
                <a:solidFill>
                  <a:schemeClr val="dk1"/>
                </a:solidFill>
                <a:latin typeface="Comfortaa"/>
                <a:ea typeface="Comfortaa"/>
                <a:cs typeface="Comfortaa"/>
                <a:sym typeface="Comfortaa"/>
              </a:rPr>
              <a:t>Off-ramps:</a:t>
            </a:r>
            <a:r>
              <a:rPr b="0" i="0" lang="en" sz="2100" u="none" cap="none" strike="noStrike">
                <a:solidFill>
                  <a:schemeClr val="dk1"/>
                </a:solidFill>
                <a:latin typeface="Comfortaa"/>
                <a:ea typeface="Comfortaa"/>
                <a:cs typeface="Comfortaa"/>
                <a:sym typeface="Comfortaa"/>
              </a:rPr>
              <a:t> conversational techniques used to brush off/avoid/”tap out of” deeper, potentially uncomfortable conversations</a:t>
            </a:r>
            <a:endParaRPr b="0" i="0" sz="21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t/>
            </a:r>
            <a:endParaRPr b="1" i="0" sz="1500" u="sng"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rPr b="1" i="0" lang="en" sz="1800" u="sng" cap="none" strike="noStrike">
                <a:solidFill>
                  <a:schemeClr val="dk1"/>
                </a:solidFill>
                <a:latin typeface="Comfortaa"/>
                <a:ea typeface="Comfortaa"/>
                <a:cs typeface="Comfortaa"/>
                <a:sym typeface="Comfortaa"/>
              </a:rPr>
              <a:t>Examples of Minimizing/Disbelief Off-Ramps: </a:t>
            </a:r>
            <a:endParaRPr b="1" i="0" sz="1800" u="sng"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omfortaa"/>
                <a:ea typeface="Comfortaa"/>
                <a:cs typeface="Comfortaa"/>
                <a:sym typeface="Comfortaa"/>
              </a:rPr>
              <a:t>“Yeah, sometimes we feel that way when we give talks, so I’ll see you at noon at the next meeting…” “Well, it sounds like you might be a little sensitive…or you wanted a lot of credit, but this is a team effort…” “I’m sure you did a great job…” </a:t>
            </a:r>
            <a:endParaRPr b="0" i="0" sz="14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800"/>
              <a:buFont typeface="Arial"/>
              <a:buNone/>
            </a:pPr>
            <a:r>
              <a:rPr b="1" i="0" lang="en" sz="1800" u="sng" cap="none" strike="noStrike">
                <a:solidFill>
                  <a:schemeClr val="dk1"/>
                </a:solidFill>
                <a:latin typeface="Comfortaa"/>
                <a:ea typeface="Comfortaa"/>
                <a:cs typeface="Comfortaa"/>
                <a:sym typeface="Comfortaa"/>
              </a:rPr>
              <a:t>Example of Savior Off-Ramp: </a:t>
            </a:r>
            <a:endParaRPr b="1" i="0" sz="1800" u="sng"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Comfortaa"/>
                <a:ea typeface="Comfortaa"/>
                <a:cs typeface="Comfortaa"/>
                <a:sym typeface="Comfortaa"/>
              </a:rPr>
              <a:t>“That’s bs, I am going to call them into my office right now…”</a:t>
            </a:r>
            <a:endParaRPr b="0" i="0" sz="1500" u="none" cap="none" strike="noStrike">
              <a:solidFill>
                <a:schemeClr val="dk1"/>
              </a:solidFill>
              <a:latin typeface="Comfortaa"/>
              <a:ea typeface="Comfortaa"/>
              <a:cs typeface="Comfortaa"/>
              <a:sym typeface="Comforta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9" name="Shape 79"/>
        <p:cNvGrpSpPr/>
        <p:nvPr/>
      </p:nvGrpSpPr>
      <p:grpSpPr>
        <a:xfrm>
          <a:off x="0" y="0"/>
          <a:ext cx="0" cy="0"/>
          <a:chOff x="0" y="0"/>
          <a:chExt cx="0" cy="0"/>
        </a:xfrm>
      </p:grpSpPr>
      <p:sp>
        <p:nvSpPr>
          <p:cNvPr id="80" name="Google Shape;80;p5"/>
          <p:cNvSpPr txBox="1"/>
          <p:nvPr/>
        </p:nvSpPr>
        <p:spPr>
          <a:xfrm>
            <a:off x="328475" y="458350"/>
            <a:ext cx="7924800" cy="381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Comfortaa"/>
                <a:ea typeface="Comfortaa"/>
                <a:cs typeface="Comfortaa"/>
                <a:sym typeface="Comfortaa"/>
              </a:rPr>
              <a:t>Breakout (15 minutes)</a:t>
            </a:r>
            <a:endParaRPr b="1" i="0" sz="2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Comfortaa"/>
                <a:ea typeface="Comfortaa"/>
                <a:cs typeface="Comfortaa"/>
                <a:sym typeface="Comfortaa"/>
              </a:rPr>
              <a:t>Reflect on past vulnerable conversations you may have had as a mentor or mentee. </a:t>
            </a:r>
            <a:endParaRPr b="1" i="0" sz="2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Comfortaa"/>
                <a:ea typeface="Comfortaa"/>
                <a:cs typeface="Comfortaa"/>
                <a:sym typeface="Comfortaa"/>
              </a:rPr>
              <a:t>Ask each other: </a:t>
            </a:r>
            <a:endParaRPr b="0" i="0" sz="20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Comfortaa"/>
              <a:ea typeface="Comfortaa"/>
              <a:cs typeface="Comfortaa"/>
              <a:sym typeface="Comfortaa"/>
            </a:endParaRPr>
          </a:p>
          <a:p>
            <a:pPr indent="-317500" lvl="0" marL="457200" marR="0" rtl="0" algn="l">
              <a:lnSpc>
                <a:spcPct val="100000"/>
              </a:lnSpc>
              <a:spcBef>
                <a:spcPts val="0"/>
              </a:spcBef>
              <a:spcAft>
                <a:spcPts val="0"/>
              </a:spcAft>
              <a:buClr>
                <a:schemeClr val="dk1"/>
              </a:buClr>
              <a:buSzPts val="1400"/>
              <a:buFont typeface="Comfortaa"/>
              <a:buAutoNum type="arabicPeriod"/>
            </a:pPr>
            <a:r>
              <a:rPr b="0" i="0" lang="en" sz="1400" u="none" cap="none" strike="noStrike">
                <a:solidFill>
                  <a:schemeClr val="dk1"/>
                </a:solidFill>
                <a:latin typeface="Comfortaa"/>
                <a:ea typeface="Comfortaa"/>
                <a:cs typeface="Comfortaa"/>
                <a:sym typeface="Comfortaa"/>
              </a:rPr>
              <a:t>Was the conversation handled with attention and empathy? </a:t>
            </a:r>
            <a:br>
              <a:rPr b="0" i="0" lang="en" sz="1400" u="none" cap="none" strike="noStrike">
                <a:solidFill>
                  <a:schemeClr val="dk1"/>
                </a:solidFill>
                <a:latin typeface="Comfortaa"/>
                <a:ea typeface="Comfortaa"/>
                <a:cs typeface="Comfortaa"/>
                <a:sym typeface="Comfortaa"/>
              </a:rPr>
            </a:br>
            <a:endParaRPr b="0" i="0" sz="1400" u="none" cap="none" strike="noStrike">
              <a:solidFill>
                <a:schemeClr val="dk1"/>
              </a:solidFill>
              <a:latin typeface="Comfortaa"/>
              <a:ea typeface="Comfortaa"/>
              <a:cs typeface="Comfortaa"/>
              <a:sym typeface="Comfortaa"/>
            </a:endParaRPr>
          </a:p>
          <a:p>
            <a:pPr indent="-317500" lvl="0" marL="457200" marR="0" rtl="0" algn="l">
              <a:lnSpc>
                <a:spcPct val="100000"/>
              </a:lnSpc>
              <a:spcBef>
                <a:spcPts val="0"/>
              </a:spcBef>
              <a:spcAft>
                <a:spcPts val="0"/>
              </a:spcAft>
              <a:buClr>
                <a:schemeClr val="dk1"/>
              </a:buClr>
              <a:buSzPts val="1400"/>
              <a:buFont typeface="Comfortaa"/>
              <a:buAutoNum type="arabicPeriod"/>
            </a:pPr>
            <a:r>
              <a:rPr b="0" i="0" lang="en" sz="1400" u="none" cap="none" strike="noStrike">
                <a:solidFill>
                  <a:schemeClr val="dk1"/>
                </a:solidFill>
                <a:latin typeface="Comfortaa"/>
                <a:ea typeface="Comfortaa"/>
                <a:cs typeface="Comfortaa"/>
                <a:sym typeface="Comfortaa"/>
              </a:rPr>
              <a:t>What were the longer-term impacts on the relationship, if any? </a:t>
            </a:r>
            <a:br>
              <a:rPr b="0" i="0" lang="en" sz="1400" u="none" cap="none" strike="noStrike">
                <a:solidFill>
                  <a:schemeClr val="dk1"/>
                </a:solidFill>
                <a:latin typeface="Comfortaa"/>
                <a:ea typeface="Comfortaa"/>
                <a:cs typeface="Comfortaa"/>
                <a:sym typeface="Comfortaa"/>
              </a:rPr>
            </a:br>
            <a:endParaRPr b="0" i="0" sz="1400" u="none" cap="none" strike="noStrike">
              <a:solidFill>
                <a:schemeClr val="dk1"/>
              </a:solidFill>
              <a:latin typeface="Comfortaa"/>
              <a:ea typeface="Comfortaa"/>
              <a:cs typeface="Comfortaa"/>
              <a:sym typeface="Comfortaa"/>
            </a:endParaRPr>
          </a:p>
          <a:p>
            <a:pPr indent="-317500" lvl="0" marL="457200" marR="0" rtl="0" algn="l">
              <a:lnSpc>
                <a:spcPct val="100000"/>
              </a:lnSpc>
              <a:spcBef>
                <a:spcPts val="0"/>
              </a:spcBef>
              <a:spcAft>
                <a:spcPts val="0"/>
              </a:spcAft>
              <a:buClr>
                <a:schemeClr val="dk1"/>
              </a:buClr>
              <a:buSzPts val="1400"/>
              <a:buFont typeface="Comfortaa"/>
              <a:buAutoNum type="arabicPeriod"/>
            </a:pPr>
            <a:r>
              <a:rPr b="0" i="0" lang="en" sz="1400" u="none" cap="none" strike="noStrike">
                <a:solidFill>
                  <a:schemeClr val="dk1"/>
                </a:solidFill>
                <a:latin typeface="Comfortaa"/>
                <a:ea typeface="Comfortaa"/>
                <a:cs typeface="Comfortaa"/>
                <a:sym typeface="Comfortaa"/>
              </a:rPr>
              <a:t>How did each party’s identities contribute to the conversation? </a:t>
            </a:r>
            <a:endParaRPr b="0" i="0" sz="14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4" name="Shape 84"/>
        <p:cNvGrpSpPr/>
        <p:nvPr/>
      </p:nvGrpSpPr>
      <p:grpSpPr>
        <a:xfrm>
          <a:off x="0" y="0"/>
          <a:ext cx="0" cy="0"/>
          <a:chOff x="0" y="0"/>
          <a:chExt cx="0" cy="0"/>
        </a:xfrm>
      </p:grpSpPr>
      <p:sp>
        <p:nvSpPr>
          <p:cNvPr id="85" name="Google Shape;85;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latin typeface="Comfortaa"/>
                <a:ea typeface="Comfortaa"/>
                <a:cs typeface="Comfortaa"/>
                <a:sym typeface="Comfortaa"/>
              </a:rPr>
              <a:t>5-min Break</a:t>
            </a:r>
            <a:endParaRPr>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9" name="Shape 89"/>
        <p:cNvGrpSpPr/>
        <p:nvPr/>
      </p:nvGrpSpPr>
      <p:grpSpPr>
        <a:xfrm>
          <a:off x="0" y="0"/>
          <a:ext cx="0" cy="0"/>
          <a:chOff x="0" y="0"/>
          <a:chExt cx="0" cy="0"/>
        </a:xfrm>
      </p:grpSpPr>
      <p:pic>
        <p:nvPicPr>
          <p:cNvPr id="90" name="Google Shape;90;p7" title="Screenshot 2025-05-28 at 2.13.49 PM.jpg"/>
          <p:cNvPicPr preferRelativeResize="0"/>
          <p:nvPr/>
        </p:nvPicPr>
        <p:blipFill rotWithShape="1">
          <a:blip r:embed="rId3">
            <a:alphaModFix/>
          </a:blip>
          <a:srcRect b="0" l="0" r="0" t="0"/>
          <a:stretch/>
        </p:blipFill>
        <p:spPr>
          <a:xfrm>
            <a:off x="6294275" y="1405854"/>
            <a:ext cx="2717150" cy="3567096"/>
          </a:xfrm>
          <a:prstGeom prst="rect">
            <a:avLst/>
          </a:prstGeom>
          <a:noFill/>
          <a:ln>
            <a:noFill/>
          </a:ln>
        </p:spPr>
      </p:pic>
      <p:pic>
        <p:nvPicPr>
          <p:cNvPr id="91" name="Google Shape;91;p7" title="Screenshot 2025-05-28 at 2.15.26 PM.jpg"/>
          <p:cNvPicPr preferRelativeResize="0"/>
          <p:nvPr/>
        </p:nvPicPr>
        <p:blipFill rotWithShape="1">
          <a:blip r:embed="rId4">
            <a:alphaModFix/>
          </a:blip>
          <a:srcRect b="0" l="0" r="0" t="0"/>
          <a:stretch/>
        </p:blipFill>
        <p:spPr>
          <a:xfrm>
            <a:off x="335225" y="1432850"/>
            <a:ext cx="2717150" cy="3513099"/>
          </a:xfrm>
          <a:prstGeom prst="rect">
            <a:avLst/>
          </a:prstGeom>
          <a:noFill/>
          <a:ln>
            <a:noFill/>
          </a:ln>
        </p:spPr>
      </p:pic>
      <p:pic>
        <p:nvPicPr>
          <p:cNvPr id="92" name="Google Shape;92;p7" title="Screenshot 2025-05-28 at 2.16.27 PM.jpg"/>
          <p:cNvPicPr preferRelativeResize="0"/>
          <p:nvPr/>
        </p:nvPicPr>
        <p:blipFill rotWithShape="1">
          <a:blip r:embed="rId5">
            <a:alphaModFix/>
          </a:blip>
          <a:srcRect b="0" l="0" r="0" t="0"/>
          <a:stretch/>
        </p:blipFill>
        <p:spPr>
          <a:xfrm>
            <a:off x="3405374" y="1416345"/>
            <a:ext cx="2535900" cy="3546118"/>
          </a:xfrm>
          <a:prstGeom prst="rect">
            <a:avLst/>
          </a:prstGeom>
          <a:noFill/>
          <a:ln>
            <a:noFill/>
          </a:ln>
        </p:spPr>
      </p:pic>
      <p:sp>
        <p:nvSpPr>
          <p:cNvPr id="93" name="Google Shape;93;p7"/>
          <p:cNvSpPr txBox="1"/>
          <p:nvPr/>
        </p:nvSpPr>
        <p:spPr>
          <a:xfrm>
            <a:off x="174750" y="7141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Martinez-Cola (2020)</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 [16 pages]</a:t>
            </a:r>
            <a:endParaRPr b="0" i="0" sz="1400" u="none" cap="none" strike="noStrike">
              <a:solidFill>
                <a:schemeClr val="dk1"/>
              </a:solidFill>
              <a:latin typeface="Arial"/>
              <a:ea typeface="Arial"/>
              <a:cs typeface="Arial"/>
              <a:sym typeface="Arial"/>
            </a:endParaRPr>
          </a:p>
        </p:txBody>
      </p:sp>
      <p:sp>
        <p:nvSpPr>
          <p:cNvPr id="94" name="Google Shape;94;p7"/>
          <p:cNvSpPr txBox="1"/>
          <p:nvPr/>
        </p:nvSpPr>
        <p:spPr>
          <a:xfrm>
            <a:off x="3247475" y="7141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Benishek et al. (2004)</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[14 pages]</a:t>
            </a:r>
            <a:endParaRPr b="0" i="0" sz="1400" u="none" cap="none" strike="noStrike">
              <a:solidFill>
                <a:schemeClr val="dk1"/>
              </a:solidFill>
              <a:latin typeface="Arial"/>
              <a:ea typeface="Arial"/>
              <a:cs typeface="Arial"/>
              <a:sym typeface="Arial"/>
            </a:endParaRPr>
          </a:p>
        </p:txBody>
      </p:sp>
      <p:sp>
        <p:nvSpPr>
          <p:cNvPr id="95" name="Google Shape;95;p7"/>
          <p:cNvSpPr txBox="1"/>
          <p:nvPr/>
        </p:nvSpPr>
        <p:spPr>
          <a:xfrm>
            <a:off x="6188550" y="7141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Tanner &amp; Allen (2007)</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[7 pages]</a:t>
            </a:r>
            <a:endParaRPr b="0" i="0" sz="1400" u="none" cap="none" strike="noStrike">
              <a:solidFill>
                <a:schemeClr val="dk1"/>
              </a:solidFill>
              <a:latin typeface="Arial"/>
              <a:ea typeface="Arial"/>
              <a:cs typeface="Arial"/>
              <a:sym typeface="Arial"/>
            </a:endParaRPr>
          </a:p>
        </p:txBody>
      </p:sp>
      <p:sp>
        <p:nvSpPr>
          <p:cNvPr id="96" name="Google Shape;96;p7"/>
          <p:cNvSpPr txBox="1"/>
          <p:nvPr/>
        </p:nvSpPr>
        <p:spPr>
          <a:xfrm>
            <a:off x="132575" y="3115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Paper #1</a:t>
            </a:r>
            <a:endParaRPr b="1" i="0" sz="1800" u="none" cap="none" strike="noStrike">
              <a:solidFill>
                <a:schemeClr val="dk1"/>
              </a:solidFill>
              <a:latin typeface="Arial"/>
              <a:ea typeface="Arial"/>
              <a:cs typeface="Arial"/>
              <a:sym typeface="Arial"/>
            </a:endParaRPr>
          </a:p>
        </p:txBody>
      </p:sp>
      <p:sp>
        <p:nvSpPr>
          <p:cNvPr id="97" name="Google Shape;97;p7"/>
          <p:cNvSpPr txBox="1"/>
          <p:nvPr/>
        </p:nvSpPr>
        <p:spPr>
          <a:xfrm>
            <a:off x="3160563" y="3115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Paper #2</a:t>
            </a:r>
            <a:endParaRPr b="1" i="0" sz="1800" u="none" cap="none" strike="noStrike">
              <a:solidFill>
                <a:schemeClr val="dk1"/>
              </a:solidFill>
              <a:latin typeface="Arial"/>
              <a:ea typeface="Arial"/>
              <a:cs typeface="Arial"/>
              <a:sym typeface="Arial"/>
            </a:endParaRPr>
          </a:p>
        </p:txBody>
      </p:sp>
      <p:sp>
        <p:nvSpPr>
          <p:cNvPr id="98" name="Google Shape;98;p7"/>
          <p:cNvSpPr txBox="1"/>
          <p:nvPr/>
        </p:nvSpPr>
        <p:spPr>
          <a:xfrm>
            <a:off x="6230713" y="3115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Paper #3</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2" name="Shape 102"/>
        <p:cNvGrpSpPr/>
        <p:nvPr/>
      </p:nvGrpSpPr>
      <p:grpSpPr>
        <a:xfrm>
          <a:off x="0" y="0"/>
          <a:ext cx="0" cy="0"/>
          <a:chOff x="0" y="0"/>
          <a:chExt cx="0" cy="0"/>
        </a:xfrm>
      </p:grpSpPr>
      <p:sp>
        <p:nvSpPr>
          <p:cNvPr id="103" name="Google Shape;103;p8"/>
          <p:cNvSpPr txBox="1"/>
          <p:nvPr/>
        </p:nvSpPr>
        <p:spPr>
          <a:xfrm>
            <a:off x="328475" y="458350"/>
            <a:ext cx="7593300" cy="381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1"/>
                </a:solidFill>
                <a:latin typeface="Comfortaa"/>
                <a:ea typeface="Comfortaa"/>
                <a:cs typeface="Comfortaa"/>
                <a:sym typeface="Comfortaa"/>
              </a:rPr>
              <a:t>Toolkit Prompts:</a:t>
            </a:r>
            <a:r>
              <a:rPr b="0" i="0" lang="en" sz="2600" u="none" cap="none" strike="noStrike">
                <a:solidFill>
                  <a:schemeClr val="dk1"/>
                </a:solidFill>
                <a:latin typeface="Comfortaa"/>
                <a:ea typeface="Comfortaa"/>
                <a:cs typeface="Comfortaa"/>
                <a:sym typeface="Comfortaa"/>
              </a:rPr>
              <a:t> </a:t>
            </a:r>
            <a:endParaRPr b="0" i="0" sz="26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Comfortaa"/>
              <a:ea typeface="Comfortaa"/>
              <a:cs typeface="Comfortaa"/>
              <a:sym typeface="Comfortaa"/>
            </a:endParaRPr>
          </a:p>
          <a:p>
            <a:pPr indent="-349250" lvl="0" marL="457200" marR="0" rtl="0" algn="l">
              <a:lnSpc>
                <a:spcPct val="100000"/>
              </a:lnSpc>
              <a:spcBef>
                <a:spcPts val="0"/>
              </a:spcBef>
              <a:spcAft>
                <a:spcPts val="0"/>
              </a:spcAft>
              <a:buClr>
                <a:schemeClr val="dk1"/>
              </a:buClr>
              <a:buSzPts val="1900"/>
              <a:buFont typeface="Comfortaa"/>
              <a:buAutoNum type="arabicPeriod"/>
            </a:pPr>
            <a:r>
              <a:rPr b="0" i="0" lang="en" sz="1900" u="none" cap="none" strike="noStrike">
                <a:solidFill>
                  <a:schemeClr val="dk1"/>
                </a:solidFill>
                <a:latin typeface="Comfortaa"/>
                <a:ea typeface="Comfortaa"/>
                <a:cs typeface="Comfortaa"/>
                <a:sym typeface="Comfortaa"/>
              </a:rPr>
              <a:t>What are 2-3 key takeaways your group has after reading the article you chose? </a:t>
            </a:r>
            <a:br>
              <a:rPr b="0" i="0" lang="en" sz="1900" u="none" cap="none" strike="noStrike">
                <a:solidFill>
                  <a:schemeClr val="dk1"/>
                </a:solidFill>
                <a:latin typeface="Comfortaa"/>
                <a:ea typeface="Comfortaa"/>
                <a:cs typeface="Comfortaa"/>
                <a:sym typeface="Comfortaa"/>
              </a:rPr>
            </a:br>
            <a:endParaRPr b="0" i="0" sz="1900" u="none" cap="none" strike="noStrike">
              <a:solidFill>
                <a:schemeClr val="dk1"/>
              </a:solidFill>
              <a:latin typeface="Comfortaa"/>
              <a:ea typeface="Comfortaa"/>
              <a:cs typeface="Comfortaa"/>
              <a:sym typeface="Comfortaa"/>
            </a:endParaRPr>
          </a:p>
          <a:p>
            <a:pPr indent="-349250" lvl="0" marL="457200" marR="0" rtl="0" algn="l">
              <a:lnSpc>
                <a:spcPct val="100000"/>
              </a:lnSpc>
              <a:spcBef>
                <a:spcPts val="0"/>
              </a:spcBef>
              <a:spcAft>
                <a:spcPts val="0"/>
              </a:spcAft>
              <a:buClr>
                <a:schemeClr val="dk1"/>
              </a:buClr>
              <a:buSzPts val="1900"/>
              <a:buFont typeface="Comfortaa"/>
              <a:buAutoNum type="arabicPeriod"/>
            </a:pPr>
            <a:r>
              <a:rPr b="0" i="0" lang="en" sz="1900" u="none" cap="none" strike="noStrike">
                <a:solidFill>
                  <a:schemeClr val="dk1"/>
                </a:solidFill>
                <a:latin typeface="Comfortaa"/>
                <a:ea typeface="Comfortaa"/>
                <a:cs typeface="Comfortaa"/>
                <a:sym typeface="Comfortaa"/>
              </a:rPr>
              <a:t>What are 3-5 practical suggestions from the article you read that could be used to improve a mentoring relationship with a mentee different from yourself? </a:t>
            </a:r>
            <a:endParaRPr b="0" i="0" sz="19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2"/>
        </a:solidFill>
      </p:bgPr>
    </p:bg>
    <p:spTree>
      <p:nvGrpSpPr>
        <p:cNvPr id="107" name="Shape 107"/>
        <p:cNvGrpSpPr/>
        <p:nvPr/>
      </p:nvGrpSpPr>
      <p:grpSpPr>
        <a:xfrm>
          <a:off x="0" y="0"/>
          <a:ext cx="0" cy="0"/>
          <a:chOff x="0" y="0"/>
          <a:chExt cx="0" cy="0"/>
        </a:xfrm>
      </p:grpSpPr>
      <p:pic>
        <p:nvPicPr>
          <p:cNvPr id="108" name="Google Shape;108;p9" title="Screenshot 2025-05-28 at 2.15.26 PM.jpg"/>
          <p:cNvPicPr preferRelativeResize="0"/>
          <p:nvPr/>
        </p:nvPicPr>
        <p:blipFill rotWithShape="1">
          <a:blip r:embed="rId3">
            <a:alphaModFix/>
          </a:blip>
          <a:srcRect b="0" l="0" r="0" t="0"/>
          <a:stretch/>
        </p:blipFill>
        <p:spPr>
          <a:xfrm>
            <a:off x="132575" y="1241625"/>
            <a:ext cx="2865046" cy="3704325"/>
          </a:xfrm>
          <a:prstGeom prst="rect">
            <a:avLst/>
          </a:prstGeom>
          <a:noFill/>
          <a:ln>
            <a:noFill/>
          </a:ln>
        </p:spPr>
      </p:pic>
      <p:sp>
        <p:nvSpPr>
          <p:cNvPr id="109" name="Google Shape;109;p9"/>
          <p:cNvSpPr txBox="1"/>
          <p:nvPr/>
        </p:nvSpPr>
        <p:spPr>
          <a:xfrm>
            <a:off x="174750" y="7141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Martinez-Cola (2020)</a:t>
            </a:r>
            <a:endParaRPr b="0" i="0" sz="1800" u="none" cap="none" strike="noStrike">
              <a:solidFill>
                <a:schemeClr val="dk1"/>
              </a:solidFill>
              <a:latin typeface="Arial"/>
              <a:ea typeface="Arial"/>
              <a:cs typeface="Arial"/>
              <a:sym typeface="Arial"/>
            </a:endParaRPr>
          </a:p>
        </p:txBody>
      </p:sp>
      <p:sp>
        <p:nvSpPr>
          <p:cNvPr id="110" name="Google Shape;110;p9"/>
          <p:cNvSpPr txBox="1"/>
          <p:nvPr/>
        </p:nvSpPr>
        <p:spPr>
          <a:xfrm>
            <a:off x="3441650" y="387475"/>
            <a:ext cx="4778700" cy="449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How do students of Color perceive their White faculty mentors? (Autoethnography)</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sng" cap="none" strike="noStrike">
                <a:solidFill>
                  <a:schemeClr val="dk1"/>
                </a:solidFill>
                <a:latin typeface="Arial"/>
                <a:ea typeface="Arial"/>
                <a:cs typeface="Arial"/>
                <a:sym typeface="Arial"/>
              </a:rPr>
              <a:t>Collectors:</a:t>
            </a:r>
            <a:r>
              <a:rPr b="0" i="0" lang="en" sz="1200" u="none" cap="none" strike="noStrike">
                <a:solidFill>
                  <a:schemeClr val="dk1"/>
                </a:solidFill>
                <a:latin typeface="Arial"/>
                <a:ea typeface="Arial"/>
                <a:cs typeface="Arial"/>
                <a:sym typeface="Arial"/>
              </a:rPr>
              <a:t> “Collectors are the ones that will ask you to be in photographs or public relations materials on behalf of the university. They also often limit their interactions with students of Color to “diversity” events” (p. 30). Often fill the role of “sponsors” “…use… influence with senior executives to advocate for their mentee” (p. 31).</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sng" cap="none" strike="noStrike">
                <a:solidFill>
                  <a:schemeClr val="dk1"/>
                </a:solidFill>
                <a:latin typeface="Arial"/>
                <a:ea typeface="Arial"/>
                <a:cs typeface="Arial"/>
                <a:sym typeface="Arial"/>
              </a:rPr>
              <a:t>Nightlights: </a:t>
            </a:r>
            <a:r>
              <a:rPr b="0" i="0" lang="en" sz="1200" u="none" cap="none" strike="noStrike">
                <a:solidFill>
                  <a:schemeClr val="dk1"/>
                </a:solidFill>
                <a:latin typeface="Arial"/>
                <a:ea typeface="Arial"/>
                <a:cs typeface="Arial"/>
                <a:sym typeface="Arial"/>
              </a:rPr>
              <a:t>“Nightlights…are White mentors who understand the challenges inherent at HWIs and can help students of Color navigate the unknown and unforeseeable curves and twists of the academy. They, figuratively, provide light in the dark, unfamiliar places within academia” (p.32). List of 4 ways Nightlights use social capital to help students of Color (p. 33).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sng" cap="none" strike="noStrike">
                <a:solidFill>
                  <a:schemeClr val="dk1"/>
                </a:solidFill>
                <a:latin typeface="Arial"/>
                <a:ea typeface="Arial"/>
                <a:cs typeface="Arial"/>
                <a:sym typeface="Arial"/>
              </a:rPr>
              <a:t>Allies:</a:t>
            </a:r>
            <a:r>
              <a:rPr b="0" i="0" lang="en" sz="1200" u="none" cap="none" strike="noStrike">
                <a:solidFill>
                  <a:schemeClr val="dk1"/>
                </a:solidFill>
                <a:latin typeface="Arial"/>
                <a:ea typeface="Arial"/>
                <a:cs typeface="Arial"/>
                <a:sym typeface="Arial"/>
              </a:rPr>
              <a:t> “Allies are by far the most aware of the experiences of students of Color…allies have “done the work” it takes to develop an appreciation and admiration for the experiences of students of Color, and this work informs their mentoring relationships” (p.36). </a:t>
            </a:r>
            <a:endParaRPr b="0" i="0" sz="1200" u="none" cap="none" strike="noStrike">
              <a:solidFill>
                <a:schemeClr val="dk1"/>
              </a:solidFill>
              <a:latin typeface="Arial"/>
              <a:ea typeface="Arial"/>
              <a:cs typeface="Arial"/>
              <a:sym typeface="Arial"/>
            </a:endParaRPr>
          </a:p>
        </p:txBody>
      </p:sp>
      <p:sp>
        <p:nvSpPr>
          <p:cNvPr id="111" name="Google Shape;111;p9"/>
          <p:cNvSpPr txBox="1"/>
          <p:nvPr/>
        </p:nvSpPr>
        <p:spPr>
          <a:xfrm>
            <a:off x="132575" y="311575"/>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Group #1</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2"/>
        </a:solidFill>
      </p:bgPr>
    </p:bg>
    <p:spTree>
      <p:nvGrpSpPr>
        <p:cNvPr id="115" name="Shape 115"/>
        <p:cNvGrpSpPr/>
        <p:nvPr/>
      </p:nvGrpSpPr>
      <p:grpSpPr>
        <a:xfrm>
          <a:off x="0" y="0"/>
          <a:ext cx="0" cy="0"/>
          <a:chOff x="0" y="0"/>
          <a:chExt cx="0" cy="0"/>
        </a:xfrm>
      </p:grpSpPr>
      <p:pic>
        <p:nvPicPr>
          <p:cNvPr id="116" name="Google Shape;116;p10" title="Screenshot 2025-05-28 at 2.16.27 PM.jpg"/>
          <p:cNvPicPr preferRelativeResize="0"/>
          <p:nvPr/>
        </p:nvPicPr>
        <p:blipFill rotWithShape="1">
          <a:blip r:embed="rId3">
            <a:alphaModFix/>
          </a:blip>
          <a:srcRect b="0" l="0" r="0" t="0"/>
          <a:stretch/>
        </p:blipFill>
        <p:spPr>
          <a:xfrm>
            <a:off x="200863" y="1332800"/>
            <a:ext cx="2649074" cy="3704324"/>
          </a:xfrm>
          <a:prstGeom prst="rect">
            <a:avLst/>
          </a:prstGeom>
          <a:noFill/>
          <a:ln>
            <a:noFill/>
          </a:ln>
        </p:spPr>
      </p:pic>
      <p:sp>
        <p:nvSpPr>
          <p:cNvPr id="117" name="Google Shape;117;p10"/>
          <p:cNvSpPr txBox="1"/>
          <p:nvPr/>
        </p:nvSpPr>
        <p:spPr>
          <a:xfrm>
            <a:off x="135050" y="799400"/>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Benishek et al. (2004)</a:t>
            </a:r>
            <a:endParaRPr b="0" i="0" sz="1800" u="none" cap="none" strike="noStrike">
              <a:solidFill>
                <a:schemeClr val="dk1"/>
              </a:solidFill>
              <a:latin typeface="Arial"/>
              <a:ea typeface="Arial"/>
              <a:cs typeface="Arial"/>
              <a:sym typeface="Arial"/>
            </a:endParaRPr>
          </a:p>
        </p:txBody>
      </p:sp>
      <p:sp>
        <p:nvSpPr>
          <p:cNvPr id="118" name="Google Shape;118;p10"/>
          <p:cNvSpPr txBox="1"/>
          <p:nvPr/>
        </p:nvSpPr>
        <p:spPr>
          <a:xfrm>
            <a:off x="200863" y="266000"/>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Group #2</a:t>
            </a:r>
            <a:endParaRPr b="1" i="0" sz="1800" u="none" cap="none" strike="noStrike">
              <a:solidFill>
                <a:schemeClr val="dk1"/>
              </a:solidFill>
              <a:latin typeface="Arial"/>
              <a:ea typeface="Arial"/>
              <a:cs typeface="Arial"/>
              <a:sym typeface="Arial"/>
            </a:endParaRPr>
          </a:p>
        </p:txBody>
      </p:sp>
      <p:sp>
        <p:nvSpPr>
          <p:cNvPr id="119" name="Google Shape;119;p10"/>
          <p:cNvSpPr txBox="1"/>
          <p:nvPr/>
        </p:nvSpPr>
        <p:spPr>
          <a:xfrm>
            <a:off x="3441650" y="60800"/>
            <a:ext cx="4778700" cy="449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How is a Multicultural Feminist Model (MFM) of Mentoring different from traditional mentoring and how can it be used to improve mentoring relationships with mentees different from yourself?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“MFM [is] an interactive process in which differences are a) clearly identified, b) explored when appropriate…in order to determine their relevance to the relationship and each individual’s professional development, and c) ultimately result in a relational exchange that is respectful of differences” (p. 434).</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“...[MFM is] built on the sharing of power, mutuality, equality and respect….The mentor’s focus is not on the mentor’s own needs, but on the needs of the mentee” (p. 434).</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TABLE 1: Characteristics of MFM Model/Benefits to Mentor/Benefits to Mentee (p. 435-436).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Categories: </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Rethinking of Power</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Valuing Collaboration</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Integration of Dichotomies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Incorporation of Political Analysis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2"/>
        </a:solidFill>
      </p:bgPr>
    </p:bg>
    <p:spTree>
      <p:nvGrpSpPr>
        <p:cNvPr id="123" name="Shape 123"/>
        <p:cNvGrpSpPr/>
        <p:nvPr/>
      </p:nvGrpSpPr>
      <p:grpSpPr>
        <a:xfrm>
          <a:off x="0" y="0"/>
          <a:ext cx="0" cy="0"/>
          <a:chOff x="0" y="0"/>
          <a:chExt cx="0" cy="0"/>
        </a:xfrm>
      </p:grpSpPr>
      <p:pic>
        <p:nvPicPr>
          <p:cNvPr id="124" name="Google Shape;124;p11" title="Screenshot 2025-05-28 at 2.13.49 PM.jpg"/>
          <p:cNvPicPr preferRelativeResize="0"/>
          <p:nvPr/>
        </p:nvPicPr>
        <p:blipFill rotWithShape="1">
          <a:blip r:embed="rId3">
            <a:alphaModFix/>
          </a:blip>
          <a:srcRect b="0" l="0" r="0" t="0"/>
          <a:stretch/>
        </p:blipFill>
        <p:spPr>
          <a:xfrm>
            <a:off x="136750" y="1220738"/>
            <a:ext cx="2865049" cy="3761250"/>
          </a:xfrm>
          <a:prstGeom prst="rect">
            <a:avLst/>
          </a:prstGeom>
          <a:noFill/>
          <a:ln>
            <a:noFill/>
          </a:ln>
        </p:spPr>
      </p:pic>
      <p:sp>
        <p:nvSpPr>
          <p:cNvPr id="125" name="Google Shape;125;p11"/>
          <p:cNvSpPr txBox="1"/>
          <p:nvPr/>
        </p:nvSpPr>
        <p:spPr>
          <a:xfrm>
            <a:off x="178925" y="721750"/>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Tanner &amp; Allen (2007)</a:t>
            </a:r>
            <a:endParaRPr b="0" i="0" sz="1800" u="none" cap="none" strike="noStrike">
              <a:solidFill>
                <a:schemeClr val="dk1"/>
              </a:solidFill>
              <a:latin typeface="Arial"/>
              <a:ea typeface="Arial"/>
              <a:cs typeface="Arial"/>
              <a:sym typeface="Arial"/>
            </a:endParaRPr>
          </a:p>
        </p:txBody>
      </p:sp>
      <p:sp>
        <p:nvSpPr>
          <p:cNvPr id="126" name="Google Shape;126;p11"/>
          <p:cNvSpPr txBox="1"/>
          <p:nvPr/>
        </p:nvSpPr>
        <p:spPr>
          <a:xfrm>
            <a:off x="221088" y="319150"/>
            <a:ext cx="2780700" cy="40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chemeClr val="dk1"/>
                </a:solidFill>
                <a:latin typeface="Arial"/>
                <a:ea typeface="Arial"/>
                <a:cs typeface="Arial"/>
                <a:sym typeface="Arial"/>
              </a:rPr>
              <a:t>Group #3</a:t>
            </a:r>
            <a:endParaRPr b="1" i="0" sz="1800" u="none" cap="none" strike="noStrike">
              <a:solidFill>
                <a:schemeClr val="dk1"/>
              </a:solidFill>
              <a:latin typeface="Arial"/>
              <a:ea typeface="Arial"/>
              <a:cs typeface="Arial"/>
              <a:sym typeface="Arial"/>
            </a:endParaRPr>
          </a:p>
        </p:txBody>
      </p:sp>
      <p:sp>
        <p:nvSpPr>
          <p:cNvPr id="127" name="Google Shape;127;p11"/>
          <p:cNvSpPr txBox="1"/>
          <p:nvPr/>
        </p:nvSpPr>
        <p:spPr>
          <a:xfrm>
            <a:off x="3441650" y="60800"/>
            <a:ext cx="4778700" cy="449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What is Cultural Competence, why should biologists care about it, and how can college biology teachers develop cultural competence?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“Cultural competence is a term used for the ability of people of one culture to understand, communicate, operate, and provide effective services to people of another given culture….Specifically in education, cultural competence is highly focused on how effective a teacher is for those students who do not share the same personal characteristics or the same cultural background of that teacher” (p. 251).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TABLE 1: Common characteristics of culturally responsive and competent educators (p. 252).</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Developing Cultural Competence as a College Biology Teacher (p. 254-256): </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Monitoring and changing ordinary language in the classroom</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Becoming aware of patterns of interaction with students</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Integrating cultural relevance and diverse role models into curricula</a:t>
            </a:r>
            <a:endParaRPr b="0" i="0" sz="1200" u="none"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Confronting and revising differing expectations and stereotypes of students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1" name="Shape 131"/>
        <p:cNvGrpSpPr/>
        <p:nvPr/>
      </p:nvGrpSpPr>
      <p:grpSpPr>
        <a:xfrm>
          <a:off x="0" y="0"/>
          <a:ext cx="0" cy="0"/>
          <a:chOff x="0" y="0"/>
          <a:chExt cx="0" cy="0"/>
        </a:xfrm>
      </p:grpSpPr>
      <p:pic>
        <p:nvPicPr>
          <p:cNvPr id="132" name="Google Shape;132;p12" title="67770aee-ff34-47aa-b2a8-b5b291681b1a_removalai_preview.png"/>
          <p:cNvPicPr preferRelativeResize="0"/>
          <p:nvPr/>
        </p:nvPicPr>
        <p:blipFill rotWithShape="1">
          <a:blip r:embed="rId3">
            <a:alphaModFix/>
          </a:blip>
          <a:srcRect b="0" l="0" r="0" t="0"/>
          <a:stretch/>
        </p:blipFill>
        <p:spPr>
          <a:xfrm>
            <a:off x="128367" y="3609842"/>
            <a:ext cx="1511250" cy="1382801"/>
          </a:xfrm>
          <a:prstGeom prst="rect">
            <a:avLst/>
          </a:prstGeom>
          <a:noFill/>
          <a:ln>
            <a:noFill/>
          </a:ln>
        </p:spPr>
      </p:pic>
      <p:pic>
        <p:nvPicPr>
          <p:cNvPr id="133" name="Google Shape;133;p12"/>
          <p:cNvPicPr preferRelativeResize="0"/>
          <p:nvPr/>
        </p:nvPicPr>
        <p:blipFill>
          <a:blip r:embed="rId4">
            <a:alphaModFix/>
          </a:blip>
          <a:stretch>
            <a:fillRect/>
          </a:stretch>
        </p:blipFill>
        <p:spPr>
          <a:xfrm>
            <a:off x="1639617" y="325938"/>
            <a:ext cx="7199584" cy="44916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