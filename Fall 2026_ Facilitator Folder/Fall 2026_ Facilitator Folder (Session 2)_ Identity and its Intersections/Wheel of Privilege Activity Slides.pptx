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8zYe4NhhOZZ//WijOJIi7i5b+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Comfortaa-bold.fntdata"/><Relationship Id="rId23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e643b6a8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7e643b6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4a858618c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74a858618c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4a858618c_1_8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74a858618c_1_8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74a858618c_1_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4a858618c_1_8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74a858618c_1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4a858618c_1_8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74a858618c_1_8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4" name="Google Shape;94;g374a858618c_1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4a858618c_1_9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7" name="Google Shape;97;g374a858618c_1_9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8" name="Google Shape;98;g374a858618c_1_9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9" name="Google Shape;99;g374a858618c_1_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4a858618c_1_9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2" name="Google Shape;102;g374a858618c_1_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4a858618c_1_10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5" name="Google Shape;105;g374a858618c_1_10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6" name="Google Shape;106;g374a858618c_1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4a858618c_1_10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9" name="Google Shape;109;g374a858618c_1_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4a858618c_1_10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4a858618c_1_10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13" name="Google Shape;113;g374a858618c_1_10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4" name="Google Shape;114;g374a858618c_1_10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74a858618c_1_1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4a858618c_1_11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g374a858618c_1_1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4a858618c_1_11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1" name="Google Shape;121;g374a858618c_1_11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2" name="Google Shape;122;g374a858618c_1_1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4a858618c_1_1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4a858618c_1_7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74a858618c_1_7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74a858618c_1_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hyperlink" Target="https://inkfactorystudio.com/blog/drawing-diversity-and-why-it-matter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kglAnkGgm1c9j6SGa_YYRb_GmFrhQL5i/view?usp=drive_link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fingerprint&#10;&#10;Description automatically generated" id="129" name="Google Shape;1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74" y="834136"/>
            <a:ext cx="3296092" cy="48904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675275" y="374150"/>
            <a:ext cx="8375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Everyone has a unique identity. No two people are exactly alike.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identities are formed by intrinsic and extrinsic factors.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you view yourself changes all the time.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0601" y="2080525"/>
            <a:ext cx="6863700" cy="438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"/>
          <p:cNvSpPr txBox="1"/>
          <p:nvPr/>
        </p:nvSpPr>
        <p:spPr>
          <a:xfrm>
            <a:off x="7548830" y="6460675"/>
            <a:ext cx="28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Ink factory studio</a:t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social identity&#10;&#10;Description automatically generated" id="137" name="Google Shape;1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662418"/>
            <a:ext cx="8902255" cy="499410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 txBox="1"/>
          <p:nvPr/>
        </p:nvSpPr>
        <p:spPr>
          <a:xfrm>
            <a:off x="9000266" y="826244"/>
            <a:ext cx="3117306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all also have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identities.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identities are categories based on shared social constructs.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identities are often at the root of unequal power or privilege.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identities also lay the foundation for bias, stereotypes, prejudice, and favoritism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0" y="637953"/>
            <a:ext cx="12192000" cy="5071731"/>
          </a:xfrm>
          <a:prstGeom prst="rect">
            <a:avLst/>
          </a:prstGeom>
          <a:noFill/>
          <a:ln cap="flat" cmpd="sng" w="76200">
            <a:solidFill>
              <a:srgbClr val="FA461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446580" y="521000"/>
            <a:ext cx="83688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impact of social identities is </a:t>
            </a:r>
            <a:r>
              <a:rPr b="1" i="0" lang="en-US" sz="2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contextual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</a:t>
            </a: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the US and UK, the academic calendar has breaks at Easter and Christmas. What if you celebrate Lunar New Year and Ramadan with your family?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Language proficiency is context dependent. English as a first language is a great help in science, but doesn’t help in many countries.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erson and person talking&#10;&#10;Description automatically generated" id="145" name="Google Shape;145;p3"/>
          <p:cNvPicPr preferRelativeResize="0"/>
          <p:nvPr/>
        </p:nvPicPr>
        <p:blipFill rotWithShape="1">
          <a:blip r:embed="rId3">
            <a:alphaModFix/>
          </a:blip>
          <a:srcRect b="7780" l="13430" r="15929" t="0"/>
          <a:stretch/>
        </p:blipFill>
        <p:spPr>
          <a:xfrm>
            <a:off x="5782374" y="3265050"/>
            <a:ext cx="5262726" cy="332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642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446575" y="189700"/>
            <a:ext cx="5349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impact of social identities is </a:t>
            </a:r>
            <a:r>
              <a:rPr b="1" i="0" lang="en-US" sz="2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contextual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In the UK, the academic calendar has breaks at Easter and Christmas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Language proficiency is context dependent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erson and person talking&#10;&#10;Description automatically generated" id="153" name="Google Shape;153;p4"/>
          <p:cNvPicPr preferRelativeResize="0"/>
          <p:nvPr/>
        </p:nvPicPr>
        <p:blipFill rotWithShape="1">
          <a:blip r:embed="rId4">
            <a:alphaModFix/>
          </a:blip>
          <a:srcRect b="7780" l="13430" r="15929" t="0"/>
          <a:stretch/>
        </p:blipFill>
        <p:spPr>
          <a:xfrm>
            <a:off x="446567" y="3099560"/>
            <a:ext cx="4833814" cy="305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204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7358095" y="932856"/>
            <a:ext cx="39061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★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 where you are on each axis of identity.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204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358095" y="932856"/>
            <a:ext cx="3906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★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 where you are on each axis of identity.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categories are most important to your sense of self (how you think of who you are).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categories have had the greatest </a:t>
            </a:r>
            <a:r>
              <a:rPr b="1" i="1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positive</a:t>
            </a: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impact on your success in science?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categories have had the greatest </a:t>
            </a:r>
            <a:r>
              <a:rPr b="1" i="1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negative</a:t>
            </a: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impact on your success in science?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874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96027" y="497125"/>
            <a:ext cx="508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Discussion guidelines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696024" y="1366827"/>
            <a:ext cx="3906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Participate respectfully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Listen to understand and learn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Uphold confidentiality – don’t share someone else’s story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874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96025" y="510375"/>
            <a:ext cx="49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Paired discussion (8 min)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96024" y="1366827"/>
            <a:ext cx="3906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Take turns sharing how your social identities positively and negatively have impacted (are impacting, will impact) your career as a scientist. 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circle with white text&#10;&#10;Description automatically generated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885" y="126905"/>
            <a:ext cx="6507126" cy="649909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293783" y="6392541"/>
            <a:ext cx="118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Reproduced under CC-BY Attribution 4.0 International from Elsherif, M. M., Middleton, S. L., Phan, J. M., Azevedo, F., Iley, B. J., Grose-Hodge, M., Tyler, S., Kapp, S. K., Gourdon-Kanhukamwe, A., Grafton-Clarke, D., Yeung, S. K., Shaw, J. J., Hartmann, H., &amp; Dokovova, M. (2022). Bridging Neurodiversity and Open Scholarship: How Shared Values Can Guide Best Practices for Research Integrity, Social Justice, and Principled Education. MetaArXiv https://doi.org/10.31222/osf.io/k7a9p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6780000" y="1067225"/>
            <a:ext cx="526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Group discussion (7 min)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7461010" y="1744893"/>
            <a:ext cx="3906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you feel comfortable, share insights from this activity and your discussions. </a:t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Please raise your hand to be called on. </a:t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e643b6a82_0_0"/>
          <p:cNvSpPr txBox="1"/>
          <p:nvPr/>
        </p:nvSpPr>
        <p:spPr>
          <a:xfrm>
            <a:off x="882550" y="825650"/>
            <a:ext cx="106932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Paired discussions</a:t>
            </a:r>
            <a:endParaRPr b="1" i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 the case study assigned to your breakout room, then answer the following questions</a:t>
            </a:r>
            <a:endParaRPr b="1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▪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identities / intersections do you notice?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▪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does the structure of academia exclude them based on their identities?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▪"/>
            </a:pPr>
            <a:r>
              <a:rPr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Implications for mentoring – how would you mentor this person? What resources are available for them? If you don’t know, how would you find out?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7e643b6a82_0_0"/>
          <p:cNvSpPr txBox="1"/>
          <p:nvPr/>
        </p:nvSpPr>
        <p:spPr>
          <a:xfrm>
            <a:off x="1025375" y="4913800"/>
            <a:ext cx="767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Case studies and discussion questions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g37e643b6a8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625" y="5529400"/>
            <a:ext cx="1089325" cy="10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74a858618c_1_61" title="Screenshot 2025-05-28 at 2.13.49 P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5167" y="1617551"/>
            <a:ext cx="3820066" cy="50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74a858618c_1_61" title="Screenshot 2025-05-28 at 2.15.26 PM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767" y="1655500"/>
            <a:ext cx="3820061" cy="493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74a858618c_1_61" title="Screenshot 2025-05-28 at 2.16.27 PM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9951" y="1655500"/>
            <a:ext cx="3532100" cy="4939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74a858618c_1_61"/>
          <p:cNvSpPr txBox="1"/>
          <p:nvPr/>
        </p:nvSpPr>
        <p:spPr>
          <a:xfrm>
            <a:off x="232950" y="952225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Martinez-Cola (2020)</a:t>
            </a:r>
            <a:endParaRPr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74a858618c_1_61"/>
          <p:cNvSpPr txBox="1"/>
          <p:nvPr/>
        </p:nvSpPr>
        <p:spPr>
          <a:xfrm>
            <a:off x="4329967" y="952233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Benishek et al. (2004)</a:t>
            </a:r>
            <a:endParaRPr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g374a858618c_1_61"/>
          <p:cNvSpPr txBox="1"/>
          <p:nvPr/>
        </p:nvSpPr>
        <p:spPr>
          <a:xfrm>
            <a:off x="8251400" y="952233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Tanner &amp; Allen (2007)</a:t>
            </a:r>
            <a:endParaRPr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74a858618c_1_61"/>
          <p:cNvSpPr txBox="1"/>
          <p:nvPr/>
        </p:nvSpPr>
        <p:spPr>
          <a:xfrm>
            <a:off x="232950" y="568900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Option #1 (16 pages)</a:t>
            </a:r>
            <a:endParaRPr b="1"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74a858618c_1_61"/>
          <p:cNvSpPr txBox="1"/>
          <p:nvPr/>
        </p:nvSpPr>
        <p:spPr>
          <a:xfrm>
            <a:off x="4329983" y="568900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Option #2 (14 pages)</a:t>
            </a:r>
            <a:endParaRPr b="1"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g374a858618c_1_61"/>
          <p:cNvSpPr txBox="1"/>
          <p:nvPr/>
        </p:nvSpPr>
        <p:spPr>
          <a:xfrm>
            <a:off x="8251342" y="568900"/>
            <a:ext cx="3707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Option #3 (7 pages)</a:t>
            </a:r>
            <a:endParaRPr b="1" i="0" sz="2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374a858618c_1_61"/>
          <p:cNvSpPr txBox="1"/>
          <p:nvPr/>
        </p:nvSpPr>
        <p:spPr>
          <a:xfrm>
            <a:off x="115475" y="111700"/>
            <a:ext cx="11904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Next week’s </a:t>
            </a:r>
            <a:r>
              <a:rPr b="1" lang="en-U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pre-</a:t>
            </a:r>
            <a:r>
              <a:rPr b="1" i="0" lang="en-US" sz="2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work: Sign up for 1 of 3 reading options (aiming for 3 ~ equal groups):</a:t>
            </a:r>
            <a:endParaRPr b="1" i="0" sz="2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74a858618c_1_61"/>
          <p:cNvSpPr/>
          <p:nvPr/>
        </p:nvSpPr>
        <p:spPr>
          <a:xfrm>
            <a:off x="557133" y="3687300"/>
            <a:ext cx="3292500" cy="1793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D9EAD3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How do students of Color perceive their White faculty mentors? (Autoethnography)</a:t>
            </a:r>
            <a:endParaRPr b="0" i="0" sz="12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4" name="Google Shape;214;g374a858618c_1_61"/>
          <p:cNvSpPr/>
          <p:nvPr/>
        </p:nvSpPr>
        <p:spPr>
          <a:xfrm>
            <a:off x="4449800" y="3637267"/>
            <a:ext cx="3292500" cy="1793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D9EAD3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How is a Multicultural Feminist Model (MFM) of Mentoring different from traditional mentoring and how can it be used to improve mentoring relationships with mentees different from yourself? </a:t>
            </a:r>
            <a:endParaRPr b="0" i="0" sz="3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5" name="Google Shape;215;g374a858618c_1_61"/>
          <p:cNvSpPr/>
          <p:nvPr/>
        </p:nvSpPr>
        <p:spPr>
          <a:xfrm>
            <a:off x="8408333" y="3566967"/>
            <a:ext cx="3408900" cy="1793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D9EAD3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What is Cultural Competence, why should biologists care about it, and how can college biology teachers develop cultural competence?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2024-08-19T07:40:13Z</dcterms:created>
  <dc:creator>Reviewer</dc:creator>
</cp:coreProperties>
</file>