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embeddedFontLst>
    <p:embeddedFont>
      <p:font typeface="Montserrat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21" roundtripDataSignature="AMtx7mhbAVFwRBXScpPT4TKxKKC+nMM5T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customschemas.google.com/relationships/presentationmetadata" Target="meta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Montserrat-regular.fnt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Montserrat-italic.fntdata"/><Relationship Id="rId6" Type="http://schemas.openxmlformats.org/officeDocument/2006/relationships/slide" Target="slides/slide1.xml"/><Relationship Id="rId18" Type="http://schemas.openxmlformats.org/officeDocument/2006/relationships/font" Target="fonts/Montserrat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" name="Google Shape;6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" name="Google Shape;7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" name="Google Shape;9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2" name="Google Shape;10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" name="Google Shape;11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" name="Google Shape;11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7" name="Google Shape;12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5" name="Google Shape;13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2" name="Google Shape;14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1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1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1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2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2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2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2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2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g"/><Relationship Id="rId4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"/>
          <p:cNvSpPr/>
          <p:nvPr/>
        </p:nvSpPr>
        <p:spPr>
          <a:xfrm>
            <a:off x="3489100" y="0"/>
            <a:ext cx="5655000" cy="52389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"/>
          <p:cNvSpPr txBox="1"/>
          <p:nvPr>
            <p:ph type="ctrTitle"/>
          </p:nvPr>
        </p:nvSpPr>
        <p:spPr>
          <a:xfrm>
            <a:off x="308325" y="1400825"/>
            <a:ext cx="3576300" cy="1712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en">
                <a:latin typeface="Calibri"/>
                <a:ea typeface="Calibri"/>
                <a:cs typeface="Calibri"/>
                <a:sym typeface="Calibri"/>
              </a:rPr>
              <a:t>Session 6:</a:t>
            </a:r>
            <a:br>
              <a:rPr b="1" lang="en">
                <a:latin typeface="Calibri"/>
                <a:ea typeface="Calibri"/>
                <a:cs typeface="Calibri"/>
                <a:sym typeface="Calibri"/>
              </a:rPr>
            </a:b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6" name="Google Shape;5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92188" y="939750"/>
            <a:ext cx="4201931" cy="326400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"/>
          <p:cNvSpPr txBox="1"/>
          <p:nvPr/>
        </p:nvSpPr>
        <p:spPr>
          <a:xfrm>
            <a:off x="449500" y="2330275"/>
            <a:ext cx="3148500" cy="15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50"/>
              <a:buFont typeface="Arial"/>
              <a:buNone/>
            </a:pPr>
            <a:r>
              <a:rPr b="1" i="0" lang="en" sz="27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From Deficit to Asset-Based Mentoring</a:t>
            </a:r>
            <a:endParaRPr b="0" i="0" sz="18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"/>
          <p:cNvSpPr/>
          <p:nvPr/>
        </p:nvSpPr>
        <p:spPr>
          <a:xfrm>
            <a:off x="0" y="0"/>
            <a:ext cx="3732900" cy="52389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2"/>
          <p:cNvSpPr/>
          <p:nvPr/>
        </p:nvSpPr>
        <p:spPr>
          <a:xfrm>
            <a:off x="932450" y="4204525"/>
            <a:ext cx="8062800" cy="9411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2"/>
          <p:cNvSpPr txBox="1"/>
          <p:nvPr/>
        </p:nvSpPr>
        <p:spPr>
          <a:xfrm>
            <a:off x="305850" y="1504350"/>
            <a:ext cx="3364200" cy="22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650"/>
              <a:buFont typeface="Arial"/>
              <a:buNone/>
            </a:pPr>
            <a:r>
              <a:rPr b="1" i="0" lang="en" sz="46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 Combination </a:t>
            </a:r>
            <a:endParaRPr b="1" i="0" sz="4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650"/>
              <a:buFont typeface="Arial"/>
              <a:buNone/>
            </a:pPr>
            <a:r>
              <a:t/>
            </a:r>
            <a:endParaRPr b="1" i="0" sz="4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2"/>
          <p:cNvSpPr txBox="1"/>
          <p:nvPr/>
        </p:nvSpPr>
        <p:spPr>
          <a:xfrm>
            <a:off x="1028675" y="4284775"/>
            <a:ext cx="7442700" cy="78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" sz="19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Mentoring practice</a:t>
            </a:r>
            <a:r>
              <a:rPr b="0" i="0" lang="en" sz="19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r>
              <a:rPr b="0" i="0" lang="en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The mentor connects students with peers who are bilingual or from a similar background who can support them.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2"/>
          <p:cNvSpPr txBox="1"/>
          <p:nvPr/>
        </p:nvSpPr>
        <p:spPr>
          <a:xfrm>
            <a:off x="5551975" y="238175"/>
            <a:ext cx="3421800" cy="22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" sz="23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Plant Lesson #2</a:t>
            </a:r>
            <a:r>
              <a:rPr b="1" i="0" lang="en" sz="2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endParaRPr b="1" i="0" sz="2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 recognize that </a:t>
            </a:r>
            <a:r>
              <a:rPr b="1" i="0" lang="en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successful plant growth sometimes requires new resources</a:t>
            </a:r>
            <a:r>
              <a:rPr b="0" i="0" lang="en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and at other times the relocation of existing resources.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et of decorative house plants in pots. Vector illustration in flat cartoon style. (Provided by Getty Images)" id="67" name="Google Shape;67;p2"/>
          <p:cNvPicPr preferRelativeResize="0"/>
          <p:nvPr/>
        </p:nvPicPr>
        <p:blipFill rotWithShape="1">
          <a:blip r:embed="rId3">
            <a:alphaModFix/>
          </a:blip>
          <a:srcRect b="0" l="8412" r="69599" t="50714"/>
          <a:stretch/>
        </p:blipFill>
        <p:spPr>
          <a:xfrm>
            <a:off x="4162050" y="238175"/>
            <a:ext cx="1293701" cy="1740101"/>
          </a:xfrm>
          <a:prstGeom prst="rect">
            <a:avLst/>
          </a:prstGeom>
          <a:noFill/>
          <a:ln>
            <a:noFill/>
          </a:ln>
        </p:spPr>
      </p:pic>
      <p:pic>
        <p:nvPicPr>
          <p:cNvPr id="68" name="Google Shape;68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62048" y="2389175"/>
            <a:ext cx="1460176" cy="1460176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2"/>
          <p:cNvSpPr/>
          <p:nvPr/>
        </p:nvSpPr>
        <p:spPr>
          <a:xfrm>
            <a:off x="3830350" y="121900"/>
            <a:ext cx="5143500" cy="19035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2"/>
          <p:cNvSpPr/>
          <p:nvPr/>
        </p:nvSpPr>
        <p:spPr>
          <a:xfrm>
            <a:off x="3851750" y="2142950"/>
            <a:ext cx="5143500" cy="19035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2"/>
          <p:cNvSpPr txBox="1"/>
          <p:nvPr/>
        </p:nvSpPr>
        <p:spPr>
          <a:xfrm>
            <a:off x="5728375" y="2142950"/>
            <a:ext cx="3192000" cy="17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20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Linguistic Capital:</a:t>
            </a:r>
            <a:r>
              <a:rPr b="1" i="0" lang="en" sz="18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br>
              <a:rPr b="1" i="0" lang="en" sz="18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1" i="0" lang="en" sz="18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Intellectual and social skills attained through </a:t>
            </a:r>
            <a:r>
              <a:rPr b="1" i="0" lang="en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communication experiences in more than one language</a:t>
            </a:r>
            <a:r>
              <a:rPr b="0" i="0" lang="en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and/or style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2"/>
          <p:cNvSpPr/>
          <p:nvPr/>
        </p:nvSpPr>
        <p:spPr>
          <a:xfrm>
            <a:off x="3466950" y="1710875"/>
            <a:ext cx="695100" cy="678300"/>
          </a:xfrm>
          <a:prstGeom prst="mathPlus">
            <a:avLst>
              <a:gd fmla="val 23520" name="adj1"/>
            </a:avLst>
          </a:prstGeom>
          <a:solidFill>
            <a:srgbClr val="93C47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highlight>
                <a:srgbClr val="D9EAD3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2"/>
          <p:cNvSpPr/>
          <p:nvPr/>
        </p:nvSpPr>
        <p:spPr>
          <a:xfrm>
            <a:off x="87675" y="4217450"/>
            <a:ext cx="577500" cy="513300"/>
          </a:xfrm>
          <a:prstGeom prst="mathEqual">
            <a:avLst>
              <a:gd fmla="val 23520" name="adj1"/>
              <a:gd fmla="val 11760" name="adj2"/>
            </a:avLst>
          </a:prstGeom>
          <a:solidFill>
            <a:srgbClr val="93C47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3"/>
          <p:cNvSpPr/>
          <p:nvPr/>
        </p:nvSpPr>
        <p:spPr>
          <a:xfrm>
            <a:off x="3489100" y="0"/>
            <a:ext cx="5655000" cy="52389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3"/>
          <p:cNvSpPr txBox="1"/>
          <p:nvPr>
            <p:ph type="ctrTitle"/>
          </p:nvPr>
        </p:nvSpPr>
        <p:spPr>
          <a:xfrm>
            <a:off x="75225" y="64150"/>
            <a:ext cx="3576300" cy="1712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en">
                <a:latin typeface="Calibri"/>
                <a:ea typeface="Calibri"/>
                <a:cs typeface="Calibri"/>
                <a:sym typeface="Calibri"/>
              </a:rPr>
              <a:t>OPTIONS</a:t>
            </a:r>
            <a:br>
              <a:rPr b="1" lang="en">
                <a:latin typeface="Calibri"/>
                <a:ea typeface="Calibri"/>
                <a:cs typeface="Calibri"/>
                <a:sym typeface="Calibri"/>
              </a:rPr>
            </a:b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3"/>
          <p:cNvSpPr txBox="1"/>
          <p:nvPr/>
        </p:nvSpPr>
        <p:spPr>
          <a:xfrm>
            <a:off x="128700" y="1063950"/>
            <a:ext cx="3148500" cy="15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50"/>
              <a:buFont typeface="Arial"/>
              <a:buNone/>
            </a:pPr>
            <a:r>
              <a:rPr b="1" i="0" lang="en" sz="27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Plant Lesson</a:t>
            </a:r>
            <a:endParaRPr b="1" i="0" sz="2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50"/>
              <a:buFont typeface="Arial"/>
              <a:buNone/>
            </a:pPr>
            <a:br>
              <a:rPr b="1" i="0" lang="en" sz="27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" sz="27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CCW</a:t>
            </a:r>
            <a:endParaRPr b="1" i="0" sz="2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50"/>
              <a:buFont typeface="Arial"/>
              <a:buNone/>
            </a:pPr>
            <a:r>
              <a:t/>
            </a:r>
            <a:endParaRPr b="1" i="0" sz="2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50"/>
              <a:buFont typeface="Arial"/>
              <a:buNone/>
            </a:pPr>
            <a:r>
              <a:rPr b="1" i="0" lang="en" sz="27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Mentoring Practice</a:t>
            </a:r>
            <a:endParaRPr b="1" i="0" sz="2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3"/>
          <p:cNvSpPr/>
          <p:nvPr/>
        </p:nvSpPr>
        <p:spPr>
          <a:xfrm>
            <a:off x="1382175" y="1561200"/>
            <a:ext cx="534600" cy="513300"/>
          </a:xfrm>
          <a:prstGeom prst="mathPlus">
            <a:avLst>
              <a:gd fmla="val 23520" name="adj1"/>
            </a:avLst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3"/>
          <p:cNvSpPr/>
          <p:nvPr/>
        </p:nvSpPr>
        <p:spPr>
          <a:xfrm>
            <a:off x="1323375" y="2362800"/>
            <a:ext cx="652200" cy="513300"/>
          </a:xfrm>
          <a:prstGeom prst="mathEqual">
            <a:avLst>
              <a:gd fmla="val 23520" name="adj1"/>
              <a:gd fmla="val 11760" name="adj2"/>
            </a:avLst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3"/>
          <p:cNvSpPr txBox="1"/>
          <p:nvPr/>
        </p:nvSpPr>
        <p:spPr>
          <a:xfrm>
            <a:off x="3894525" y="207450"/>
            <a:ext cx="4886700" cy="45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sng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Option 1:</a:t>
            </a:r>
            <a:endParaRPr b="1" i="0" sz="1200" u="sng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●"/>
            </a:pPr>
            <a:r>
              <a:rPr b="1" i="0" lang="en" sz="12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Plant lesson 1</a:t>
            </a:r>
            <a:r>
              <a:rPr b="0" i="0" lang="en" sz="12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: We extensively probe our environment when the plants in it are not faring well.</a:t>
            </a:r>
            <a:endParaRPr b="0" i="0" sz="12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●"/>
            </a:pPr>
            <a:r>
              <a:rPr b="1" i="0" lang="en" sz="12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CCW</a:t>
            </a:r>
            <a:r>
              <a:rPr b="0" i="0" lang="en" sz="12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: </a:t>
            </a:r>
            <a:r>
              <a:rPr b="1" i="0" lang="en" sz="12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Aspirational capital</a:t>
            </a:r>
            <a:br>
              <a:rPr b="0" i="0" lang="en" sz="12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br>
              <a:rPr b="0" i="0" lang="en" sz="12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b="0" i="0" sz="12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sng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Option 2: </a:t>
            </a:r>
            <a:endParaRPr b="1" i="0" sz="1200" u="sng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●"/>
            </a:pPr>
            <a:r>
              <a:rPr b="1" i="0" lang="en" sz="12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Plant lesson 3</a:t>
            </a:r>
            <a:r>
              <a:rPr b="0" i="0" lang="en" sz="12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: Caretakers and their preparation, expertise, and efficacy critically matter to plant persistence and optimized survival.</a:t>
            </a:r>
            <a:endParaRPr b="0" i="0" sz="12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●"/>
            </a:pPr>
            <a:r>
              <a:rPr b="1" i="0" lang="en" sz="12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CCW</a:t>
            </a:r>
            <a:r>
              <a:rPr b="0" i="0" lang="en" sz="12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: </a:t>
            </a:r>
            <a:r>
              <a:rPr b="1" i="0" lang="en" sz="12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Resistant capital</a:t>
            </a:r>
            <a:br>
              <a:rPr b="0" i="0" lang="en" sz="12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br>
              <a:rPr b="0" i="0" lang="en" sz="12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b="0" i="0" sz="12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sng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Option 3: </a:t>
            </a:r>
            <a:endParaRPr b="1" i="0" sz="1200" u="sng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●"/>
            </a:pPr>
            <a:r>
              <a:rPr b="1" i="0" lang="en" sz="12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Plant lesson 4: </a:t>
            </a:r>
            <a:r>
              <a:rPr b="0" i="0" lang="en" sz="12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We seek external expertise when our own caretaking efforts prove ineffective.</a:t>
            </a:r>
            <a:endParaRPr b="0" i="0" sz="12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21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Char char="●"/>
            </a:pPr>
            <a:r>
              <a:rPr b="1" i="0" lang="en" sz="12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CCW</a:t>
            </a:r>
            <a:r>
              <a:rPr b="0" i="0" lang="en" sz="12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: </a:t>
            </a:r>
            <a:r>
              <a:rPr b="1" i="0" lang="en" sz="12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Social capital</a:t>
            </a:r>
            <a:br>
              <a:rPr b="0" i="0" lang="en" sz="12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br>
              <a:rPr b="0" i="0" lang="en" sz="12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b="0" i="0" sz="12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sng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Option 4: </a:t>
            </a:r>
            <a:endParaRPr b="1" i="0" sz="1200" u="sng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21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Char char="●"/>
            </a:pPr>
            <a:r>
              <a:rPr b="1" i="0" lang="en" sz="12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Plant lesson 5</a:t>
            </a:r>
            <a:r>
              <a:rPr b="0" i="0" lang="en" sz="12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: We attribute a failure to support plant growth to our own caretaking and stewardship inabilities</a:t>
            </a:r>
            <a:endParaRPr b="0" i="0" sz="12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21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Char char="●"/>
            </a:pPr>
            <a:r>
              <a:rPr b="1" i="0" lang="en" sz="12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CCW</a:t>
            </a:r>
            <a:r>
              <a:rPr b="0" i="0" lang="en" sz="12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: </a:t>
            </a:r>
            <a:r>
              <a:rPr b="1" i="0" lang="en" sz="12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Navigational capital</a:t>
            </a:r>
            <a:endParaRPr b="1" i="0" sz="12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4"/>
          <p:cNvSpPr/>
          <p:nvPr/>
        </p:nvSpPr>
        <p:spPr>
          <a:xfrm>
            <a:off x="3489100" y="0"/>
            <a:ext cx="5655000" cy="52389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4"/>
          <p:cNvSpPr txBox="1"/>
          <p:nvPr>
            <p:ph type="ctrTitle"/>
          </p:nvPr>
        </p:nvSpPr>
        <p:spPr>
          <a:xfrm>
            <a:off x="562850" y="1449150"/>
            <a:ext cx="3576300" cy="2245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en">
                <a:latin typeface="Calibri"/>
                <a:ea typeface="Calibri"/>
                <a:cs typeface="Calibri"/>
                <a:sym typeface="Calibri"/>
              </a:rPr>
              <a:t>Plant 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en">
                <a:latin typeface="Calibri"/>
                <a:ea typeface="Calibri"/>
                <a:cs typeface="Calibri"/>
                <a:sym typeface="Calibri"/>
              </a:rPr>
              <a:t>Lesson </a:t>
            </a:r>
            <a:br>
              <a:rPr b="1" lang="en">
                <a:latin typeface="Calibri"/>
                <a:ea typeface="Calibri"/>
                <a:cs typeface="Calibri"/>
                <a:sym typeface="Calibri"/>
              </a:rPr>
            </a:br>
            <a:r>
              <a:rPr b="1" lang="en">
                <a:latin typeface="Calibri"/>
                <a:ea typeface="Calibri"/>
                <a:cs typeface="Calibri"/>
                <a:sym typeface="Calibri"/>
              </a:rPr>
              <a:t>#1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4"/>
          <p:cNvSpPr txBox="1"/>
          <p:nvPr/>
        </p:nvSpPr>
        <p:spPr>
          <a:xfrm>
            <a:off x="4645050" y="1819050"/>
            <a:ext cx="3849600" cy="16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n" sz="2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First, </a:t>
            </a:r>
            <a:r>
              <a:rPr b="1" i="0" lang="en" sz="2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we extensively probe our environment</a:t>
            </a:r>
            <a:r>
              <a:rPr b="0" i="0" lang="en" sz="2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when the plants in it are not</a:t>
            </a:r>
            <a:endParaRPr b="0" i="0" sz="2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n" sz="2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faring well.</a:t>
            </a:r>
            <a:endParaRPr b="0" i="0" sz="2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et of decorative house plants in pots. Vector illustration in flat cartoon style. (Provided by Getty Images)" id="91" name="Google Shape;91;p4"/>
          <p:cNvPicPr preferRelativeResize="0"/>
          <p:nvPr/>
        </p:nvPicPr>
        <p:blipFill rotWithShape="1">
          <a:blip r:embed="rId3">
            <a:alphaModFix/>
          </a:blip>
          <a:srcRect b="50717" l="10759" r="71730" t="0"/>
          <a:stretch/>
        </p:blipFill>
        <p:spPr>
          <a:xfrm>
            <a:off x="1656239" y="2993700"/>
            <a:ext cx="1329213" cy="2245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5"/>
          <p:cNvSpPr/>
          <p:nvPr/>
        </p:nvSpPr>
        <p:spPr>
          <a:xfrm>
            <a:off x="3489100" y="0"/>
            <a:ext cx="5655000" cy="52389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5"/>
          <p:cNvSpPr txBox="1"/>
          <p:nvPr>
            <p:ph type="ctrTitle"/>
          </p:nvPr>
        </p:nvSpPr>
        <p:spPr>
          <a:xfrm>
            <a:off x="562850" y="1449150"/>
            <a:ext cx="3576300" cy="2245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en">
                <a:latin typeface="Calibri"/>
                <a:ea typeface="Calibri"/>
                <a:cs typeface="Calibri"/>
                <a:sym typeface="Calibri"/>
              </a:rPr>
              <a:t>Plant 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en">
                <a:latin typeface="Calibri"/>
                <a:ea typeface="Calibri"/>
                <a:cs typeface="Calibri"/>
                <a:sym typeface="Calibri"/>
              </a:rPr>
              <a:t>Lesson </a:t>
            </a:r>
            <a:br>
              <a:rPr b="1" lang="en">
                <a:latin typeface="Calibri"/>
                <a:ea typeface="Calibri"/>
                <a:cs typeface="Calibri"/>
                <a:sym typeface="Calibri"/>
              </a:rPr>
            </a:br>
            <a:r>
              <a:rPr b="1" lang="en">
                <a:latin typeface="Calibri"/>
                <a:ea typeface="Calibri"/>
                <a:cs typeface="Calibri"/>
                <a:sym typeface="Calibri"/>
              </a:rPr>
              <a:t>#2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5"/>
          <p:cNvSpPr txBox="1"/>
          <p:nvPr/>
        </p:nvSpPr>
        <p:spPr>
          <a:xfrm>
            <a:off x="4645050" y="1465050"/>
            <a:ext cx="3849600" cy="23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n" sz="2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We recognize that </a:t>
            </a:r>
            <a:r>
              <a:rPr b="1" i="0" lang="en" sz="2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successful plant growth sometimes requires new resources</a:t>
            </a:r>
            <a:r>
              <a:rPr b="0" i="0" lang="en" sz="2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and at other times the relocation of existing resources.</a:t>
            </a:r>
            <a:endParaRPr b="0" i="0" sz="2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et of decorative house plants in pots. Vector illustration in flat cartoon style. (Provided by Getty Images)" id="99" name="Google Shape;99;p5"/>
          <p:cNvPicPr preferRelativeResize="0"/>
          <p:nvPr/>
        </p:nvPicPr>
        <p:blipFill rotWithShape="1">
          <a:blip r:embed="rId3">
            <a:alphaModFix/>
          </a:blip>
          <a:srcRect b="0" l="8412" r="69599" t="50714"/>
          <a:stretch/>
        </p:blipFill>
        <p:spPr>
          <a:xfrm>
            <a:off x="1790525" y="3403400"/>
            <a:ext cx="1293701" cy="17401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6"/>
          <p:cNvSpPr/>
          <p:nvPr/>
        </p:nvSpPr>
        <p:spPr>
          <a:xfrm>
            <a:off x="3489100" y="0"/>
            <a:ext cx="5655000" cy="52389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6"/>
          <p:cNvSpPr txBox="1"/>
          <p:nvPr>
            <p:ph type="ctrTitle"/>
          </p:nvPr>
        </p:nvSpPr>
        <p:spPr>
          <a:xfrm>
            <a:off x="562850" y="1449150"/>
            <a:ext cx="3576300" cy="2245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en">
                <a:latin typeface="Calibri"/>
                <a:ea typeface="Calibri"/>
                <a:cs typeface="Calibri"/>
                <a:sym typeface="Calibri"/>
              </a:rPr>
              <a:t>Plant 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en">
                <a:latin typeface="Calibri"/>
                <a:ea typeface="Calibri"/>
                <a:cs typeface="Calibri"/>
                <a:sym typeface="Calibri"/>
              </a:rPr>
              <a:t>Lesson </a:t>
            </a:r>
            <a:br>
              <a:rPr b="1" lang="en">
                <a:latin typeface="Calibri"/>
                <a:ea typeface="Calibri"/>
                <a:cs typeface="Calibri"/>
                <a:sym typeface="Calibri"/>
              </a:rPr>
            </a:br>
            <a:r>
              <a:rPr b="1" lang="en">
                <a:latin typeface="Calibri"/>
                <a:ea typeface="Calibri"/>
                <a:cs typeface="Calibri"/>
                <a:sym typeface="Calibri"/>
              </a:rPr>
              <a:t>#3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6"/>
          <p:cNvSpPr txBox="1"/>
          <p:nvPr/>
        </p:nvSpPr>
        <p:spPr>
          <a:xfrm>
            <a:off x="4391800" y="1288050"/>
            <a:ext cx="3849600" cy="266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n" sz="2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We recognize that </a:t>
            </a:r>
            <a:r>
              <a:rPr b="1" i="0" lang="en" sz="2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caretakers and their specific preparation, expertise, and efficacy</a:t>
            </a:r>
            <a:r>
              <a:rPr b="0" i="0" lang="en" sz="2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in using these skills, </a:t>
            </a:r>
            <a:r>
              <a:rPr b="1" i="0" lang="en" sz="2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critically matter</a:t>
            </a:r>
            <a:r>
              <a:rPr b="0" i="0" lang="en" sz="2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to plant persistence and optimized survival.</a:t>
            </a:r>
            <a:endParaRPr b="0" i="0" sz="2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et of decorative house plants in pots. Vector illustration in flat cartoon style. (Provided by Getty Images)" id="107" name="Google Shape;107;p6"/>
          <p:cNvPicPr preferRelativeResize="0"/>
          <p:nvPr/>
        </p:nvPicPr>
        <p:blipFill rotWithShape="1">
          <a:blip r:embed="rId3">
            <a:alphaModFix/>
          </a:blip>
          <a:srcRect b="52175" l="37583" r="38657" t="0"/>
          <a:stretch/>
        </p:blipFill>
        <p:spPr>
          <a:xfrm>
            <a:off x="1562426" y="3238350"/>
            <a:ext cx="1577149" cy="1905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7"/>
          <p:cNvSpPr/>
          <p:nvPr/>
        </p:nvSpPr>
        <p:spPr>
          <a:xfrm>
            <a:off x="3489100" y="0"/>
            <a:ext cx="5655000" cy="52389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7"/>
          <p:cNvSpPr txBox="1"/>
          <p:nvPr>
            <p:ph type="ctrTitle"/>
          </p:nvPr>
        </p:nvSpPr>
        <p:spPr>
          <a:xfrm>
            <a:off x="562850" y="1449150"/>
            <a:ext cx="3576300" cy="2245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en">
                <a:latin typeface="Calibri"/>
                <a:ea typeface="Calibri"/>
                <a:cs typeface="Calibri"/>
                <a:sym typeface="Calibri"/>
              </a:rPr>
              <a:t>Plant 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en">
                <a:latin typeface="Calibri"/>
                <a:ea typeface="Calibri"/>
                <a:cs typeface="Calibri"/>
                <a:sym typeface="Calibri"/>
              </a:rPr>
              <a:t>Lesson </a:t>
            </a:r>
            <a:br>
              <a:rPr b="1" lang="en">
                <a:latin typeface="Calibri"/>
                <a:ea typeface="Calibri"/>
                <a:cs typeface="Calibri"/>
                <a:sym typeface="Calibri"/>
              </a:rPr>
            </a:br>
            <a:r>
              <a:rPr b="1" lang="en">
                <a:latin typeface="Calibri"/>
                <a:ea typeface="Calibri"/>
                <a:cs typeface="Calibri"/>
                <a:sym typeface="Calibri"/>
              </a:rPr>
              <a:t>#4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7"/>
          <p:cNvSpPr txBox="1"/>
          <p:nvPr/>
        </p:nvSpPr>
        <p:spPr>
          <a:xfrm>
            <a:off x="4391800" y="1111050"/>
            <a:ext cx="3849600" cy="301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" sz="2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We seek external expertise </a:t>
            </a:r>
            <a:r>
              <a:rPr b="0" i="0" lang="en" sz="2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when our own caretaking efforts prove ineffective or </a:t>
            </a:r>
            <a:r>
              <a:rPr b="1" i="0" lang="en" sz="2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when we lack knowledge</a:t>
            </a:r>
            <a:r>
              <a:rPr b="0" i="0" lang="en" sz="2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about the underlying causes of the impairments or limitations in plant growth.</a:t>
            </a:r>
            <a:endParaRPr b="0" i="0" sz="2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et of decorative house plants in pots. Vector illustration in flat cartoon style. (Provided by Getty Images)" id="115" name="Google Shape;115;p7"/>
          <p:cNvPicPr preferRelativeResize="0"/>
          <p:nvPr/>
        </p:nvPicPr>
        <p:blipFill rotWithShape="1">
          <a:blip r:embed="rId3">
            <a:alphaModFix/>
          </a:blip>
          <a:srcRect b="52107" l="69944" r="9170" t="0"/>
          <a:stretch/>
        </p:blipFill>
        <p:spPr>
          <a:xfrm>
            <a:off x="1543700" y="2800875"/>
            <a:ext cx="1702323" cy="2342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et of decorative house plants in pots. Vector illustration in flat cartoon style. (Provided by Getty Images)" id="116" name="Google Shape;116;p7"/>
          <p:cNvPicPr preferRelativeResize="0"/>
          <p:nvPr/>
        </p:nvPicPr>
        <p:blipFill rotWithShape="1">
          <a:blip r:embed="rId3">
            <a:alphaModFix/>
          </a:blip>
          <a:srcRect b="52516" l="69466" r="8691" t="0"/>
          <a:stretch/>
        </p:blipFill>
        <p:spPr>
          <a:xfrm>
            <a:off x="1416800" y="2753471"/>
            <a:ext cx="1870275" cy="24398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8"/>
          <p:cNvSpPr/>
          <p:nvPr/>
        </p:nvSpPr>
        <p:spPr>
          <a:xfrm>
            <a:off x="3489100" y="0"/>
            <a:ext cx="5655000" cy="52389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8"/>
          <p:cNvSpPr txBox="1"/>
          <p:nvPr>
            <p:ph type="ctrTitle"/>
          </p:nvPr>
        </p:nvSpPr>
        <p:spPr>
          <a:xfrm>
            <a:off x="562850" y="1449150"/>
            <a:ext cx="3576300" cy="2245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en">
                <a:latin typeface="Calibri"/>
                <a:ea typeface="Calibri"/>
                <a:cs typeface="Calibri"/>
                <a:sym typeface="Calibri"/>
              </a:rPr>
              <a:t>Plant 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en">
                <a:latin typeface="Calibri"/>
                <a:ea typeface="Calibri"/>
                <a:cs typeface="Calibri"/>
                <a:sym typeface="Calibri"/>
              </a:rPr>
              <a:t>Lesson </a:t>
            </a:r>
            <a:br>
              <a:rPr b="1" lang="en">
                <a:latin typeface="Calibri"/>
                <a:ea typeface="Calibri"/>
                <a:cs typeface="Calibri"/>
                <a:sym typeface="Calibri"/>
              </a:rPr>
            </a:br>
            <a:r>
              <a:rPr b="1" lang="en">
                <a:latin typeface="Calibri"/>
                <a:ea typeface="Calibri"/>
                <a:cs typeface="Calibri"/>
                <a:sym typeface="Calibri"/>
              </a:rPr>
              <a:t>#5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8"/>
          <p:cNvSpPr txBox="1"/>
          <p:nvPr/>
        </p:nvSpPr>
        <p:spPr>
          <a:xfrm>
            <a:off x="4391800" y="1240350"/>
            <a:ext cx="3849600" cy="266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" sz="2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We attribute a failure</a:t>
            </a:r>
            <a:r>
              <a:rPr b="0" i="0" lang="en" sz="2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to support plant growth </a:t>
            </a:r>
            <a:r>
              <a:rPr b="0" i="1" lang="en" sz="2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b="1" i="1" lang="en" sz="2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 our </a:t>
            </a:r>
            <a:r>
              <a:rPr b="1" i="0" lang="en" sz="2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own caretaking and</a:t>
            </a:r>
            <a:endParaRPr b="1" i="0" sz="2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" sz="2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stewardship inadequacies</a:t>
            </a:r>
            <a:r>
              <a:rPr b="0" i="0" lang="en" sz="2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or inabilities and seek opportunities to improve</a:t>
            </a:r>
            <a:endParaRPr b="0" i="0" sz="2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n" sz="2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our care regimen.</a:t>
            </a:r>
            <a:endParaRPr b="0" i="0" sz="2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et of decorative house plants in pots. Vector illustration in flat cartoon style. (Provided by Getty Images)" id="124" name="Google Shape;124;p8"/>
          <p:cNvPicPr preferRelativeResize="0"/>
          <p:nvPr/>
        </p:nvPicPr>
        <p:blipFill rotWithShape="1">
          <a:blip r:embed="rId3">
            <a:alphaModFix/>
          </a:blip>
          <a:srcRect b="0" l="34024" r="33809" t="50037"/>
          <a:stretch/>
        </p:blipFill>
        <p:spPr>
          <a:xfrm>
            <a:off x="1381263" y="3335700"/>
            <a:ext cx="1939476" cy="1807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9"/>
          <p:cNvSpPr/>
          <p:nvPr/>
        </p:nvSpPr>
        <p:spPr>
          <a:xfrm>
            <a:off x="3489100" y="0"/>
            <a:ext cx="5655000" cy="52389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9"/>
          <p:cNvSpPr txBox="1"/>
          <p:nvPr>
            <p:ph type="ctrTitle"/>
          </p:nvPr>
        </p:nvSpPr>
        <p:spPr>
          <a:xfrm>
            <a:off x="562850" y="1449150"/>
            <a:ext cx="3576300" cy="2245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en">
                <a:latin typeface="Calibri"/>
                <a:ea typeface="Calibri"/>
                <a:cs typeface="Calibri"/>
                <a:sym typeface="Calibri"/>
              </a:rPr>
              <a:t>Plant 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en">
                <a:latin typeface="Calibri"/>
                <a:ea typeface="Calibri"/>
                <a:cs typeface="Calibri"/>
                <a:sym typeface="Calibri"/>
              </a:rPr>
              <a:t>Lesson </a:t>
            </a:r>
            <a:br>
              <a:rPr b="1" lang="en">
                <a:latin typeface="Calibri"/>
                <a:ea typeface="Calibri"/>
                <a:cs typeface="Calibri"/>
                <a:sym typeface="Calibri"/>
              </a:rPr>
            </a:br>
            <a:r>
              <a:rPr b="1" lang="en">
                <a:latin typeface="Calibri"/>
                <a:ea typeface="Calibri"/>
                <a:cs typeface="Calibri"/>
                <a:sym typeface="Calibri"/>
              </a:rPr>
              <a:t>#6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9"/>
          <p:cNvSpPr txBox="1"/>
          <p:nvPr/>
        </p:nvSpPr>
        <p:spPr>
          <a:xfrm>
            <a:off x="4391800" y="1594350"/>
            <a:ext cx="3849600" cy="195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" sz="2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 a very last resort,</a:t>
            </a:r>
            <a:r>
              <a:rPr b="0" i="0" lang="en" sz="2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when a plant is not faring well, we may attribute this</a:t>
            </a:r>
            <a:endParaRPr b="0" i="0" sz="2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n" sz="2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outcome to a failure of a plant to thrive.</a:t>
            </a:r>
            <a:endParaRPr b="0" i="0" sz="2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et of decorative house plants in pots. Vector illustration in flat cartoon style. (Provided by Getty Images)" id="132" name="Google Shape;132;p9"/>
          <p:cNvPicPr preferRelativeResize="0"/>
          <p:nvPr/>
        </p:nvPicPr>
        <p:blipFill rotWithShape="1">
          <a:blip r:embed="rId3">
            <a:alphaModFix/>
          </a:blip>
          <a:srcRect b="0" l="65422" r="6795" t="46204"/>
          <a:stretch/>
        </p:blipFill>
        <p:spPr>
          <a:xfrm>
            <a:off x="1459175" y="3071000"/>
            <a:ext cx="1783649" cy="2072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32400" y="163275"/>
            <a:ext cx="51435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0"/>
          <p:cNvSpPr/>
          <p:nvPr/>
        </p:nvSpPr>
        <p:spPr>
          <a:xfrm>
            <a:off x="0" y="0"/>
            <a:ext cx="3732900" cy="52389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10"/>
          <p:cNvSpPr txBox="1"/>
          <p:nvPr/>
        </p:nvSpPr>
        <p:spPr>
          <a:xfrm>
            <a:off x="305850" y="1504350"/>
            <a:ext cx="3121200" cy="22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650"/>
              <a:buFont typeface="Arial"/>
              <a:buNone/>
            </a:pPr>
            <a:r>
              <a:rPr b="1" i="0" lang="en" sz="46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Community Cultural Wealth </a:t>
            </a:r>
            <a:endParaRPr b="1" i="0" sz="4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650"/>
              <a:buFont typeface="Arial"/>
              <a:buNone/>
            </a:pPr>
            <a:r>
              <a:t/>
            </a:r>
            <a:endParaRPr b="1" i="0" sz="4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1"/>
          <p:cNvSpPr txBox="1"/>
          <p:nvPr>
            <p:ph type="ctrTitle"/>
          </p:nvPr>
        </p:nvSpPr>
        <p:spPr>
          <a:xfrm>
            <a:off x="4326900" y="318150"/>
            <a:ext cx="4505400" cy="463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t/>
            </a:r>
            <a:endParaRPr sz="1000">
              <a:solidFill>
                <a:srgbClr val="FF0000"/>
              </a:solidFill>
            </a:endParaRPr>
          </a:p>
        </p:txBody>
      </p:sp>
      <p:sp>
        <p:nvSpPr>
          <p:cNvPr id="145" name="Google Shape;145;p11"/>
          <p:cNvSpPr/>
          <p:nvPr/>
        </p:nvSpPr>
        <p:spPr>
          <a:xfrm>
            <a:off x="0" y="0"/>
            <a:ext cx="3732900" cy="52389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11"/>
          <p:cNvSpPr txBox="1"/>
          <p:nvPr/>
        </p:nvSpPr>
        <p:spPr>
          <a:xfrm>
            <a:off x="305850" y="1041150"/>
            <a:ext cx="3121200" cy="318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650"/>
              <a:buFont typeface="Arial"/>
              <a:buNone/>
            </a:pPr>
            <a:r>
              <a:rPr b="1" i="0" lang="en" sz="46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Practical Strategies Group Discussion</a:t>
            </a:r>
            <a:endParaRPr b="1" i="0" sz="4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